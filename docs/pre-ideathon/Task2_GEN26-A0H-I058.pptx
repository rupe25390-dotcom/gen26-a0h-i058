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4"/>
    </p:embeddedFont>
    <p:embeddedFont>
      <p:font typeface="Cambria Bold" charset="1" panose="02040803050406030204"/>
      <p:regular r:id="rId15"/>
    </p:embeddedFont>
    <p:embeddedFont>
      <p:font typeface="Calibri (MS) Italics" charset="1" panose="020F05020202040A0204"/>
      <p:regular r:id="rId16"/>
    </p:embeddedFont>
    <p:embeddedFont>
      <p:font typeface="Calibri (MS)" charset="1" panose="020F0502020204030204"/>
      <p:regular r:id="rId17"/>
    </p:embeddedFont>
    <p:embeddedFont>
      <p:font typeface="Proxima Nova Bold" charset="1" panose="02000506030000020004"/>
      <p:regular r:id="rId18"/>
    </p:embeddedFont>
    <p:embeddedFont>
      <p:font typeface="Open Sauce Bold" charset="1" panose="00000800000000000000"/>
      <p:regular r:id="rId19"/>
    </p:embeddedFont>
    <p:embeddedFont>
      <p:font typeface="Open Sauce" charset="1" panose="00000500000000000000"/>
      <p:regular r:id="rId20"/>
    </p:embeddedFont>
    <p:embeddedFont>
      <p:font typeface="Bebas Neue Bold" charset="1" panose="020B0606020202050201"/>
      <p:regular r:id="rId21"/>
    </p:embeddedFont>
    <p:embeddedFont>
      <p:font typeface="Bebas Neue Cyrillic" charset="1" panose="02000506000000020004"/>
      <p:regular r:id="rId26"/>
    </p:embeddedFont>
    <p:embeddedFont>
      <p:font typeface="Telegraf" charset="1" panose="00000500000000000000"/>
      <p:regular r:id="rId27"/>
    </p:embeddedFont>
    <p:embeddedFont>
      <p:font typeface="Lovelo" charset="1" panose="02000000000000000000"/>
      <p:regular r:id="rId28"/>
    </p:embeddedFont>
    <p:embeddedFont>
      <p:font typeface="Telegraf Bold" charset="1" panose="00000800000000000000"/>
      <p:regular r:id="rId29"/>
    </p:embeddedFont>
    <p:embeddedFont>
      <p:font typeface="TS Arabic Bebas Neue Pro" charset="1" panose="000006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svg" Type="http://schemas.openxmlformats.org/officeDocument/2006/relationships/image"/><Relationship Id="rId19" Target="../media/image19.png" Type="http://schemas.openxmlformats.org/officeDocument/2006/relationships/image"/><Relationship Id="rId2" Target="../media/image1.jpeg" Type="http://schemas.openxmlformats.org/officeDocument/2006/relationships/image"/><Relationship Id="rId20" Target="../media/image20.jpe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9.png" Type="http://schemas.openxmlformats.org/officeDocument/2006/relationships/image"/><Relationship Id="rId4" Target="../media/image1.jpe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9.png" Type="http://schemas.openxmlformats.org/officeDocument/2006/relationships/image"/><Relationship Id="rId4" Target="../media/image1.jpeg" Type="http://schemas.openxmlformats.org/officeDocument/2006/relationships/image"/><Relationship Id="rId5" Target="../media/image6.png" Type="http://schemas.openxmlformats.org/officeDocument/2006/relationships/image"/><Relationship Id="rId6" Target="../media/image21.jpeg" Type="http://schemas.openxmlformats.org/officeDocument/2006/relationships/image"/><Relationship Id="rId7" Target="../media/image22.jpeg" Type="http://schemas.openxmlformats.org/officeDocument/2006/relationships/image"/><Relationship Id="rId8" Target="../media/image23.jpeg" Type="http://schemas.openxmlformats.org/officeDocument/2006/relationships/image"/><Relationship Id="rId9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9.png" Type="http://schemas.openxmlformats.org/officeDocument/2006/relationships/image"/><Relationship Id="rId4" Target="../media/image1.jpe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9.png" Type="http://schemas.openxmlformats.org/officeDocument/2006/relationships/image"/><Relationship Id="rId4" Target="../media/image1.jpe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9.png" Type="http://schemas.openxmlformats.org/officeDocument/2006/relationships/image"/><Relationship Id="rId4" Target="../media/image1.jpe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9.png" Type="http://schemas.openxmlformats.org/officeDocument/2006/relationships/image"/><Relationship Id="rId4" Target="../media/image1.jpe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251037" y="-1845745"/>
            <a:ext cx="5566372" cy="4823870"/>
            <a:chOff x="0" y="0"/>
            <a:chExt cx="7421829" cy="64318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21880" cy="6431788"/>
            </a:xfrm>
            <a:custGeom>
              <a:avLst/>
              <a:gdLst/>
              <a:ahLst/>
              <a:cxnLst/>
              <a:rect r="r" b="b" t="t" l="l"/>
              <a:pathLst>
                <a:path h="6431788" w="7421880">
                  <a:moveTo>
                    <a:pt x="0" y="3215894"/>
                  </a:moveTo>
                  <a:lnTo>
                    <a:pt x="1607947" y="0"/>
                  </a:lnTo>
                  <a:lnTo>
                    <a:pt x="5813933" y="0"/>
                  </a:lnTo>
                  <a:lnTo>
                    <a:pt x="7421880" y="3215894"/>
                  </a:lnTo>
                  <a:lnTo>
                    <a:pt x="5813933" y="6431788"/>
                  </a:lnTo>
                  <a:lnTo>
                    <a:pt x="1607947" y="64317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88" t="0" r="-61187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5774457" y="2525011"/>
            <a:ext cx="5566372" cy="4823870"/>
            <a:chOff x="0" y="0"/>
            <a:chExt cx="7421829" cy="64318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21880" cy="6431788"/>
            </a:xfrm>
            <a:custGeom>
              <a:avLst/>
              <a:gdLst/>
              <a:ahLst/>
              <a:cxnLst/>
              <a:rect r="r" b="b" t="t" l="l"/>
              <a:pathLst>
                <a:path h="6431788" w="7421880">
                  <a:moveTo>
                    <a:pt x="0" y="3215894"/>
                  </a:moveTo>
                  <a:lnTo>
                    <a:pt x="1607947" y="0"/>
                  </a:lnTo>
                  <a:lnTo>
                    <a:pt x="5813933" y="0"/>
                  </a:lnTo>
                  <a:lnTo>
                    <a:pt x="7421880" y="3215894"/>
                  </a:lnTo>
                  <a:lnTo>
                    <a:pt x="5813933" y="6431788"/>
                  </a:lnTo>
                  <a:lnTo>
                    <a:pt x="1607947" y="6431788"/>
                  </a:lnTo>
                  <a:close/>
                </a:path>
              </a:pathLst>
            </a:custGeom>
            <a:solidFill>
              <a:srgbClr val="026855">
                <a:alpha val="6275"/>
              </a:srgbClr>
            </a:solid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3251037" y="6896310"/>
            <a:ext cx="5566372" cy="4823870"/>
            <a:chOff x="0" y="0"/>
            <a:chExt cx="7421829" cy="64318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21880" cy="6431788"/>
            </a:xfrm>
            <a:custGeom>
              <a:avLst/>
              <a:gdLst/>
              <a:ahLst/>
              <a:cxnLst/>
              <a:rect r="r" b="b" t="t" l="l"/>
              <a:pathLst>
                <a:path h="6431788" w="7421880">
                  <a:moveTo>
                    <a:pt x="0" y="3215894"/>
                  </a:moveTo>
                  <a:lnTo>
                    <a:pt x="1607947" y="0"/>
                  </a:lnTo>
                  <a:lnTo>
                    <a:pt x="5813933" y="0"/>
                  </a:lnTo>
                  <a:lnTo>
                    <a:pt x="7421880" y="3215894"/>
                  </a:lnTo>
                  <a:lnTo>
                    <a:pt x="5813933" y="6431788"/>
                  </a:lnTo>
                  <a:lnTo>
                    <a:pt x="1607947" y="64317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88" t="0" r="-61187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9920878" y="4766043"/>
            <a:ext cx="870480" cy="753837"/>
            <a:chOff x="0" y="0"/>
            <a:chExt cx="1160640" cy="10051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0653" cy="1005078"/>
            </a:xfrm>
            <a:custGeom>
              <a:avLst/>
              <a:gdLst/>
              <a:ahLst/>
              <a:cxnLst/>
              <a:rect r="r" b="b" t="t" l="l"/>
              <a:pathLst>
                <a:path h="1005078" w="1160653">
                  <a:moveTo>
                    <a:pt x="0" y="502539"/>
                  </a:moveTo>
                  <a:lnTo>
                    <a:pt x="251333" y="0"/>
                  </a:lnTo>
                  <a:lnTo>
                    <a:pt x="909320" y="0"/>
                  </a:lnTo>
                  <a:lnTo>
                    <a:pt x="1160653" y="502539"/>
                  </a:lnTo>
                  <a:lnTo>
                    <a:pt x="909320" y="1005078"/>
                  </a:lnTo>
                  <a:lnTo>
                    <a:pt x="251333" y="1005078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6274520" y="2592543"/>
            <a:ext cx="506520" cy="438483"/>
            <a:chOff x="0" y="0"/>
            <a:chExt cx="675361" cy="5846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5386" cy="584581"/>
            </a:xfrm>
            <a:custGeom>
              <a:avLst/>
              <a:gdLst/>
              <a:ahLst/>
              <a:cxnLst/>
              <a:rect r="r" b="b" t="t" l="l"/>
              <a:pathLst>
                <a:path h="584581" w="675386">
                  <a:moveTo>
                    <a:pt x="0" y="292354"/>
                  </a:moveTo>
                  <a:lnTo>
                    <a:pt x="146177" y="0"/>
                  </a:lnTo>
                  <a:lnTo>
                    <a:pt x="529209" y="0"/>
                  </a:lnTo>
                  <a:lnTo>
                    <a:pt x="675386" y="292354"/>
                  </a:lnTo>
                  <a:lnTo>
                    <a:pt x="529209" y="584581"/>
                  </a:lnTo>
                  <a:lnTo>
                    <a:pt x="146177" y="584581"/>
                  </a:lnTo>
                  <a:close/>
                </a:path>
              </a:pathLst>
            </a:custGeom>
            <a:solidFill>
              <a:srgbClr val="7AC143">
                <a:alpha val="4902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0303735" y="2160003"/>
            <a:ext cx="6413583" cy="5554437"/>
            <a:chOff x="0" y="0"/>
            <a:chExt cx="8551443" cy="74059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51418" cy="7405878"/>
            </a:xfrm>
            <a:custGeom>
              <a:avLst/>
              <a:gdLst/>
              <a:ahLst/>
              <a:cxnLst/>
              <a:rect r="r" b="b" t="t" l="l"/>
              <a:pathLst>
                <a:path h="7405878" w="8551418">
                  <a:moveTo>
                    <a:pt x="0" y="3702939"/>
                  </a:moveTo>
                  <a:lnTo>
                    <a:pt x="1851533" y="0"/>
                  </a:lnTo>
                  <a:lnTo>
                    <a:pt x="6700012" y="0"/>
                  </a:lnTo>
                  <a:lnTo>
                    <a:pt x="8551418" y="3702939"/>
                  </a:lnTo>
                  <a:lnTo>
                    <a:pt x="6700012" y="7405878"/>
                  </a:lnTo>
                  <a:lnTo>
                    <a:pt x="1851533" y="7405878"/>
                  </a:lnTo>
                  <a:close/>
                </a:path>
              </a:pathLst>
            </a:custGeom>
            <a:solidFill>
              <a:srgbClr val="026855">
                <a:alpha val="2000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0119893" y="7186612"/>
            <a:ext cx="1294876" cy="1125312"/>
            <a:chOff x="0" y="0"/>
            <a:chExt cx="1726502" cy="15004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6565" cy="1500378"/>
            </a:xfrm>
            <a:custGeom>
              <a:avLst/>
              <a:gdLst/>
              <a:ahLst/>
              <a:cxnLst/>
              <a:rect r="r" b="b" t="t" l="l"/>
              <a:pathLst>
                <a:path h="1500378" w="1726565">
                  <a:moveTo>
                    <a:pt x="0" y="750189"/>
                  </a:moveTo>
                  <a:lnTo>
                    <a:pt x="375158" y="0"/>
                  </a:lnTo>
                  <a:lnTo>
                    <a:pt x="1351407" y="0"/>
                  </a:lnTo>
                  <a:lnTo>
                    <a:pt x="1726565" y="750189"/>
                  </a:lnTo>
                  <a:lnTo>
                    <a:pt x="1351407" y="1500378"/>
                  </a:lnTo>
                  <a:lnTo>
                    <a:pt x="375158" y="15003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499" t="0" r="-61496" b="-2"/>
              </a:stretch>
            </a:blipFill>
            <a:ln w="28575" cap="sq">
              <a:solidFill>
                <a:srgbClr val="7AC14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5400000">
            <a:off x="10710405" y="2508342"/>
            <a:ext cx="5599709" cy="4857207"/>
            <a:chOff x="0" y="0"/>
            <a:chExt cx="7466279" cy="64762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66330" cy="6476238"/>
            </a:xfrm>
            <a:custGeom>
              <a:avLst/>
              <a:gdLst/>
              <a:ahLst/>
              <a:cxnLst/>
              <a:rect r="r" b="b" t="t" l="l"/>
              <a:pathLst>
                <a:path h="6476238" w="7466330">
                  <a:moveTo>
                    <a:pt x="0" y="3238119"/>
                  </a:moveTo>
                  <a:lnTo>
                    <a:pt x="1619123" y="0"/>
                  </a:lnTo>
                  <a:lnTo>
                    <a:pt x="5847207" y="0"/>
                  </a:lnTo>
                  <a:lnTo>
                    <a:pt x="7466330" y="3238119"/>
                  </a:lnTo>
                  <a:lnTo>
                    <a:pt x="5847207" y="6476238"/>
                  </a:lnTo>
                  <a:lnTo>
                    <a:pt x="1619123" y="6476238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7AC14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166197" y="3189237"/>
            <a:ext cx="2687584" cy="3497037"/>
            <a:chOff x="0" y="0"/>
            <a:chExt cx="3583445" cy="4662716"/>
          </a:xfrm>
        </p:grpSpPr>
        <p:sp>
          <p:nvSpPr>
            <p:cNvPr name="Freeform 19" id="19" descr="Genesis logo"/>
            <p:cNvSpPr/>
            <p:nvPr/>
          </p:nvSpPr>
          <p:spPr>
            <a:xfrm flipH="false" flipV="false" rot="0">
              <a:off x="0" y="0"/>
              <a:ext cx="3583432" cy="4662678"/>
            </a:xfrm>
            <a:custGeom>
              <a:avLst/>
              <a:gdLst/>
              <a:ahLst/>
              <a:cxnLst/>
              <a:rect r="r" b="b" t="t" l="l"/>
              <a:pathLst>
                <a:path h="4662678" w="3583432">
                  <a:moveTo>
                    <a:pt x="0" y="0"/>
                  </a:moveTo>
                  <a:lnTo>
                    <a:pt x="3583432" y="0"/>
                  </a:lnTo>
                  <a:lnTo>
                    <a:pt x="3583432" y="4662678"/>
                  </a:lnTo>
                  <a:lnTo>
                    <a:pt x="0" y="4662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754380"/>
            <a:ext cx="7954737" cy="479517"/>
            <a:chOff x="0" y="0"/>
            <a:chExt cx="10606316" cy="6393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06320" cy="639360"/>
            </a:xfrm>
            <a:custGeom>
              <a:avLst/>
              <a:gdLst/>
              <a:ahLst/>
              <a:cxnLst/>
              <a:rect r="r" b="b" t="t" l="l"/>
              <a:pathLst>
                <a:path h="639360" w="10606320">
                  <a:moveTo>
                    <a:pt x="0" y="0"/>
                  </a:moveTo>
                  <a:lnTo>
                    <a:pt x="10606320" y="0"/>
                  </a:lnTo>
                  <a:lnTo>
                    <a:pt x="10606320" y="639360"/>
                  </a:lnTo>
                  <a:lnTo>
                    <a:pt x="0" y="639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3236" r="0" b="-27323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606316" cy="677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AC1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PRE-IDEATHON TEMPLATE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22960" y="1379220"/>
            <a:ext cx="8503377" cy="2323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8"/>
              </a:lnSpc>
            </a:pPr>
            <a:r>
              <a:rPr lang="en-US" b="true" sz="8100" spc="30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GENESIS</a:t>
            </a:r>
          </a:p>
          <a:p>
            <a:pPr algn="l">
              <a:lnSpc>
                <a:spcPts val="8748"/>
              </a:lnSpc>
            </a:pPr>
            <a:r>
              <a:rPr lang="en-US" b="true" sz="8100" spc="301">
                <a:solidFill>
                  <a:srgbClr val="7AC143"/>
                </a:solidFill>
                <a:latin typeface="Cambria Bold"/>
                <a:ea typeface="Cambria Bold"/>
                <a:cs typeface="Cambria Bold"/>
                <a:sym typeface="Cambria Bold"/>
              </a:rPr>
              <a:t>IDEATHON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1054" y="3897154"/>
            <a:ext cx="3177950" cy="599456"/>
            <a:chOff x="0" y="0"/>
            <a:chExt cx="4237266" cy="79927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37355" cy="799338"/>
            </a:xfrm>
            <a:custGeom>
              <a:avLst/>
              <a:gdLst/>
              <a:ahLst/>
              <a:cxnLst/>
              <a:rect r="r" b="b" t="t" l="l"/>
              <a:pathLst>
                <a:path h="799338" w="4237355">
                  <a:moveTo>
                    <a:pt x="0" y="399669"/>
                  </a:moveTo>
                  <a:cubicBezTo>
                    <a:pt x="0" y="178943"/>
                    <a:pt x="178943" y="0"/>
                    <a:pt x="399669" y="0"/>
                  </a:cubicBezTo>
                  <a:lnTo>
                    <a:pt x="3837686" y="0"/>
                  </a:lnTo>
                  <a:cubicBezTo>
                    <a:pt x="4058412" y="0"/>
                    <a:pt x="4237355" y="178943"/>
                    <a:pt x="4237355" y="399669"/>
                  </a:cubicBezTo>
                  <a:cubicBezTo>
                    <a:pt x="4237355" y="620395"/>
                    <a:pt x="4058412" y="799338"/>
                    <a:pt x="3837686" y="799338"/>
                  </a:cubicBezTo>
                  <a:lnTo>
                    <a:pt x="399669" y="799338"/>
                  </a:lnTo>
                  <a:cubicBezTo>
                    <a:pt x="178943" y="799211"/>
                    <a:pt x="0" y="620395"/>
                    <a:pt x="0" y="399669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293" r="2" b="-53285"/>
              </a:stretch>
            </a:blipFill>
            <a:ln w="23812" cap="sq">
              <a:solidFill>
                <a:srgbClr val="7AC143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4237266" cy="846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b="true" sz="1950" spc="4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&amp; DOMAIN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4663440"/>
            <a:ext cx="8503377" cy="548097"/>
            <a:chOff x="0" y="0"/>
            <a:chExt cx="11337836" cy="7307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37840" cy="730800"/>
            </a:xfrm>
            <a:custGeom>
              <a:avLst/>
              <a:gdLst/>
              <a:ahLst/>
              <a:cxnLst/>
              <a:rect r="r" b="b" t="t" l="l"/>
              <a:pathLst>
                <a:path h="730800" w="11337840">
                  <a:moveTo>
                    <a:pt x="0" y="0"/>
                  </a:moveTo>
                  <a:lnTo>
                    <a:pt x="11337840" y="0"/>
                  </a:lnTo>
                  <a:lnTo>
                    <a:pt x="11337840" y="730800"/>
                  </a:lnTo>
                  <a:lnTo>
                    <a:pt x="0" y="730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296" r="0" b="-25229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1337836" cy="768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D3E6D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Introduce your team and the domain you have chosen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22960" y="5497830"/>
            <a:ext cx="16727043" cy="405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 – BUGLORDS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Members :</a:t>
            </a:r>
          </a:p>
          <a:p>
            <a:pPr algn="l" marL="380048" indent="-190024" lvl="1">
              <a:lnSpc>
                <a:spcPts val="2520"/>
              </a:lnSpc>
            </a:pP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Selected Domain – 2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 – AI-Based Priority-Aware Electricity Allocation During Power Shortages.</a:t>
            </a:r>
          </a:p>
        </p:txBody>
      </p:sp>
      <p:graphicFrame>
        <p:nvGraphicFramePr>
          <p:cNvPr name="Table 31" id="31"/>
          <p:cNvGraphicFramePr>
            <a:graphicFrameLocks noGrp="true"/>
          </p:cNvGraphicFramePr>
          <p:nvPr/>
        </p:nvGraphicFramePr>
        <p:xfrm>
          <a:off x="1157446" y="6407877"/>
          <a:ext cx="7834405" cy="2294707"/>
        </p:xfrm>
        <a:graphic>
          <a:graphicData uri="http://schemas.openxmlformats.org/drawingml/2006/table">
            <a:tbl>
              <a:tblPr/>
              <a:tblGrid>
                <a:gridCol w="3916897"/>
                <a:gridCol w="3917508"/>
              </a:tblGrid>
              <a:tr h="573677">
                <a:tc>
                  <a:txBody>
                    <a:bodyPr anchor="t" rtlCol="false"/>
                    <a:lstStyle/>
                    <a:p>
                      <a:pPr algn="l" marL="603365" indent="-301682" lvl="1">
                        <a:lnSpc>
                          <a:spcPts val="2961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68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DHARUNEASHWAR E </a:t>
                      </a:r>
                      <a:endParaRPr lang="en-US" sz="1100"/>
                    </a:p>
                  </a:txBody>
                  <a:tcPr marL="32907" marR="32907" marT="32907" marB="32907" anchor="t">
                    <a:lnL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603365" indent="-301682" lvl="1">
                        <a:lnSpc>
                          <a:spcPts val="2961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68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CB.AI.U4AAR26019</a:t>
                      </a:r>
                      <a:endParaRPr lang="en-US" sz="1100"/>
                    </a:p>
                  </a:txBody>
                  <a:tcPr marL="32907" marR="32907" marT="32907" marB="32907" anchor="t">
                    <a:lnL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677">
                <a:tc>
                  <a:txBody>
                    <a:bodyPr anchor="t" rtlCol="false"/>
                    <a:lstStyle/>
                    <a:p>
                      <a:pPr algn="l" marL="603365" indent="-301682" lvl="1">
                        <a:lnSpc>
                          <a:spcPts val="2961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68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RUPESH S</a:t>
                      </a:r>
                      <a:endParaRPr lang="en-US" sz="1100"/>
                    </a:p>
                  </a:txBody>
                  <a:tcPr marL="32907" marR="32907" marT="32907" marB="32907" anchor="t">
                    <a:lnL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603365" indent="-301682" lvl="1">
                        <a:lnSpc>
                          <a:spcPts val="2961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68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CB.SC.U4CYS26143</a:t>
                      </a:r>
                      <a:endParaRPr lang="en-US" sz="1100"/>
                    </a:p>
                  </a:txBody>
                  <a:tcPr marL="32907" marR="32907" marT="32907" marB="32907" anchor="t">
                    <a:lnL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677">
                <a:tc>
                  <a:txBody>
                    <a:bodyPr anchor="t" rtlCol="false"/>
                    <a:lstStyle/>
                    <a:p>
                      <a:pPr algn="l" marL="603365" indent="-301682" lvl="1">
                        <a:lnSpc>
                          <a:spcPts val="2961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68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 M SRIHARIPRASATH</a:t>
                      </a:r>
                      <a:endParaRPr lang="en-US" sz="1100"/>
                    </a:p>
                  </a:txBody>
                  <a:tcPr marL="32907" marR="32907" marT="32907" marB="32907" anchor="t">
                    <a:lnL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603365" indent="-301682" lvl="1">
                        <a:lnSpc>
                          <a:spcPts val="2961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68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CB.AI.U4AAR26047</a:t>
                      </a:r>
                      <a:endParaRPr lang="en-US" sz="1100"/>
                    </a:p>
                  </a:txBody>
                  <a:tcPr marL="32907" marR="32907" marT="32907" marB="32907" anchor="t">
                    <a:lnL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677">
                <a:tc>
                  <a:txBody>
                    <a:bodyPr anchor="t" rtlCol="false"/>
                    <a:lstStyle/>
                    <a:p>
                      <a:pPr algn="l" marL="603365" indent="-301682" lvl="1">
                        <a:lnSpc>
                          <a:spcPts val="2961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68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SHABHARISH J M</a:t>
                      </a:r>
                      <a:endParaRPr lang="en-US" sz="1100"/>
                    </a:p>
                  </a:txBody>
                  <a:tcPr marL="32907" marR="32907" marT="32907" marB="32907" anchor="t">
                    <a:lnL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603365" indent="-301682" lvl="1">
                        <a:lnSpc>
                          <a:spcPts val="2961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68">
                          <a:solidFill>
                            <a:srgbClr val="FFFF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CB.SC.U4CYS26156</a:t>
                      </a:r>
                      <a:endParaRPr lang="en-US" sz="1100"/>
                    </a:p>
                  </a:txBody>
                  <a:tcPr marL="32907" marR="32907" marT="32907" marB="32907" anchor="t">
                    <a:lnL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0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5108" y="4102062"/>
            <a:ext cx="4001453" cy="3712359"/>
            <a:chOff x="0" y="0"/>
            <a:chExt cx="5335270" cy="4949812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1592116" y="1818951"/>
              <a:ext cx="2882570" cy="2500630"/>
              <a:chOff x="0" y="0"/>
              <a:chExt cx="2882570" cy="250063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882519" cy="2500630"/>
              </a:xfrm>
              <a:custGeom>
                <a:avLst/>
                <a:gdLst/>
                <a:ahLst/>
                <a:cxnLst/>
                <a:rect r="r" b="b" t="t" l="l"/>
                <a:pathLst>
                  <a:path h="2500630" w="2882519">
                    <a:moveTo>
                      <a:pt x="0" y="1250315"/>
                    </a:moveTo>
                    <a:lnTo>
                      <a:pt x="625094" y="0"/>
                    </a:lnTo>
                    <a:lnTo>
                      <a:pt x="2257425" y="0"/>
                    </a:lnTo>
                    <a:lnTo>
                      <a:pt x="2882519" y="1250315"/>
                    </a:lnTo>
                    <a:lnTo>
                      <a:pt x="2257425" y="2500630"/>
                    </a:lnTo>
                    <a:lnTo>
                      <a:pt x="625094" y="250063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1304" t="0" r="-61306" b="0"/>
                </a:stretch>
              </a:blipFill>
              <a:ln w="23812" cap="sq">
                <a:solidFill>
                  <a:srgbClr val="4FA278"/>
                </a:solidFill>
                <a:prstDash val="solid"/>
                <a:miter/>
              </a:ln>
            </p:spPr>
          </p:sp>
        </p:grpSp>
        <p:grpSp>
          <p:nvGrpSpPr>
            <p:cNvPr name="Group 5" id="5"/>
            <p:cNvGrpSpPr/>
            <p:nvPr/>
          </p:nvGrpSpPr>
          <p:grpSpPr>
            <a:xfrm rot="5400000">
              <a:off x="-127311" y="3144831"/>
              <a:ext cx="1932292" cy="1677670"/>
              <a:chOff x="0" y="0"/>
              <a:chExt cx="1932292" cy="167767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32178" cy="1677670"/>
              </a:xfrm>
              <a:custGeom>
                <a:avLst/>
                <a:gdLst/>
                <a:ahLst/>
                <a:cxnLst/>
                <a:rect r="r" b="b" t="t" l="l"/>
                <a:pathLst>
                  <a:path h="1677670" w="1932178">
                    <a:moveTo>
                      <a:pt x="0" y="838835"/>
                    </a:moveTo>
                    <a:lnTo>
                      <a:pt x="419354" y="0"/>
                    </a:lnTo>
                    <a:lnTo>
                      <a:pt x="1512824" y="0"/>
                    </a:lnTo>
                    <a:lnTo>
                      <a:pt x="1932178" y="838835"/>
                    </a:lnTo>
                    <a:lnTo>
                      <a:pt x="1512824" y="1677670"/>
                    </a:lnTo>
                    <a:lnTo>
                      <a:pt x="419354" y="167767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1400" t="0" r="-61406" b="0"/>
                </a:stretch>
              </a:blipFill>
              <a:ln w="23812" cap="sq">
                <a:solidFill>
                  <a:srgbClr val="4FA278"/>
                </a:solidFill>
                <a:prstDash val="solid"/>
                <a:miter/>
              </a:ln>
            </p:spPr>
          </p:sp>
        </p:grpSp>
        <p:grpSp>
          <p:nvGrpSpPr>
            <p:cNvPr name="Group 7" id="7"/>
            <p:cNvGrpSpPr/>
            <p:nvPr/>
          </p:nvGrpSpPr>
          <p:grpSpPr>
            <a:xfrm rot="5400000">
              <a:off x="3530289" y="127311"/>
              <a:ext cx="1932292" cy="1677670"/>
              <a:chOff x="0" y="0"/>
              <a:chExt cx="1932292" cy="167767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32178" cy="1677670"/>
              </a:xfrm>
              <a:custGeom>
                <a:avLst/>
                <a:gdLst/>
                <a:ahLst/>
                <a:cxnLst/>
                <a:rect r="r" b="b" t="t" l="l"/>
                <a:pathLst>
                  <a:path h="1677670" w="1932178">
                    <a:moveTo>
                      <a:pt x="0" y="838835"/>
                    </a:moveTo>
                    <a:lnTo>
                      <a:pt x="419354" y="0"/>
                    </a:lnTo>
                    <a:lnTo>
                      <a:pt x="1512824" y="0"/>
                    </a:lnTo>
                    <a:lnTo>
                      <a:pt x="1932178" y="838835"/>
                    </a:lnTo>
                    <a:lnTo>
                      <a:pt x="1512824" y="1677670"/>
                    </a:lnTo>
                    <a:lnTo>
                      <a:pt x="419354" y="167767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1400" t="0" r="-61406" b="0"/>
                </a:stretch>
              </a:blipFill>
              <a:ln w="23812" cap="sq">
                <a:solidFill>
                  <a:srgbClr val="4FA278"/>
                </a:solidFill>
                <a:prstDash val="solid"/>
                <a:miter/>
              </a:ln>
            </p:spPr>
          </p:sp>
        </p:grpSp>
      </p:grpSp>
      <p:grpSp>
        <p:nvGrpSpPr>
          <p:cNvPr name="Group 9" id="9"/>
          <p:cNvGrpSpPr/>
          <p:nvPr/>
        </p:nvGrpSpPr>
        <p:grpSpPr>
          <a:xfrm rot="0">
            <a:off x="4243142" y="1122845"/>
            <a:ext cx="685800" cy="593903"/>
            <a:chOff x="0" y="0"/>
            <a:chExt cx="914400" cy="79187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14400" cy="791870"/>
              <a:chOff x="0" y="0"/>
              <a:chExt cx="914400" cy="79187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14400" cy="791845"/>
              </a:xfrm>
              <a:custGeom>
                <a:avLst/>
                <a:gdLst/>
                <a:ahLst/>
                <a:cxnLst/>
                <a:rect r="r" b="b" t="t" l="l"/>
                <a:pathLst>
                  <a:path h="791845" w="914400">
                    <a:moveTo>
                      <a:pt x="0" y="395986"/>
                    </a:moveTo>
                    <a:lnTo>
                      <a:pt x="197993" y="0"/>
                    </a:lnTo>
                    <a:lnTo>
                      <a:pt x="716407" y="0"/>
                    </a:lnTo>
                    <a:lnTo>
                      <a:pt x="914400" y="395986"/>
                    </a:lnTo>
                    <a:lnTo>
                      <a:pt x="716407" y="791845"/>
                    </a:lnTo>
                    <a:lnTo>
                      <a:pt x="197993" y="791845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170180" y="184201"/>
              <a:ext cx="548640" cy="548640"/>
              <a:chOff x="0" y="0"/>
              <a:chExt cx="548640" cy="548640"/>
            </a:xfrm>
          </p:grpSpPr>
          <p:sp>
            <p:nvSpPr>
              <p:cNvPr name="Freeform 13" id="13" descr="Lightbulb icon"/>
              <p:cNvSpPr/>
              <p:nvPr/>
            </p:nvSpPr>
            <p:spPr>
              <a:xfrm flipH="false" flipV="false" rot="0">
                <a:off x="0" y="0"/>
                <a:ext cx="54864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0" b="0"/>
                </a:stretch>
              </a:blipFill>
            </p:spPr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269491" y="7415775"/>
            <a:ext cx="3375660" cy="1908810"/>
          </a:xfrm>
          <a:custGeom>
            <a:avLst/>
            <a:gdLst/>
            <a:ahLst/>
            <a:cxnLst/>
            <a:rect r="r" b="b" t="t" l="l"/>
            <a:pathLst>
              <a:path h="1908810" w="3375660">
                <a:moveTo>
                  <a:pt x="0" y="0"/>
                </a:moveTo>
                <a:lnTo>
                  <a:pt x="3375660" y="0"/>
                </a:lnTo>
                <a:lnTo>
                  <a:pt x="3375660" y="1908810"/>
                </a:lnTo>
                <a:lnTo>
                  <a:pt x="0" y="1908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6" t="0" r="-800" b="-106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82046" y="452285"/>
            <a:ext cx="10858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DOMAIN PROBLEM IN OUR WORDS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645985" y="7415775"/>
            <a:ext cx="3375660" cy="1908810"/>
          </a:xfrm>
          <a:custGeom>
            <a:avLst/>
            <a:gdLst/>
            <a:ahLst/>
            <a:cxnLst/>
            <a:rect r="r" b="b" t="t" l="l"/>
            <a:pathLst>
              <a:path h="1908810" w="3375660">
                <a:moveTo>
                  <a:pt x="0" y="0"/>
                </a:moveTo>
                <a:lnTo>
                  <a:pt x="3375660" y="0"/>
                </a:lnTo>
                <a:lnTo>
                  <a:pt x="3375660" y="1908810"/>
                </a:lnTo>
                <a:lnTo>
                  <a:pt x="0" y="1908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61" t="-255" r="-7985" b="-8116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47488" y="189417"/>
            <a:ext cx="3950305" cy="1317781"/>
            <a:chOff x="0" y="0"/>
            <a:chExt cx="5231130" cy="17450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31130" cy="1745052"/>
            </a:xfrm>
            <a:custGeom>
              <a:avLst/>
              <a:gdLst/>
              <a:ahLst/>
              <a:cxnLst/>
              <a:rect r="r" b="b" t="t" l="l"/>
              <a:pathLst>
                <a:path h="1745052" w="5231130">
                  <a:moveTo>
                    <a:pt x="0" y="232674"/>
                  </a:moveTo>
                  <a:cubicBezTo>
                    <a:pt x="0" y="104224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104224"/>
                    <a:pt x="5231130" y="232674"/>
                  </a:cubicBezTo>
                  <a:lnTo>
                    <a:pt x="5231130" y="1512378"/>
                  </a:lnTo>
                  <a:cubicBezTo>
                    <a:pt x="5231130" y="1640828"/>
                    <a:pt x="5131689" y="1745052"/>
                    <a:pt x="5009134" y="1745052"/>
                  </a:cubicBezTo>
                  <a:lnTo>
                    <a:pt x="221996" y="1745052"/>
                  </a:lnTo>
                  <a:cubicBezTo>
                    <a:pt x="99441" y="1745052"/>
                    <a:pt x="0" y="1640828"/>
                    <a:pt x="0" y="151237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368452" y="406534"/>
            <a:ext cx="967292" cy="883547"/>
            <a:chOff x="0" y="0"/>
            <a:chExt cx="1280922" cy="117002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922" cy="1170023"/>
            </a:xfrm>
            <a:custGeom>
              <a:avLst/>
              <a:gdLst/>
              <a:ahLst/>
              <a:cxnLst/>
              <a:rect r="r" b="b" t="t" l="l"/>
              <a:pathLst>
                <a:path h="1170023" w="1280922">
                  <a:moveTo>
                    <a:pt x="0" y="585012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85012"/>
                  </a:lnTo>
                  <a:lnTo>
                    <a:pt x="1001776" y="1170023"/>
                  </a:lnTo>
                  <a:lnTo>
                    <a:pt x="279019" y="1170023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75893" y="558818"/>
            <a:ext cx="552410" cy="578980"/>
            <a:chOff x="0" y="0"/>
            <a:chExt cx="731520" cy="766705"/>
          </a:xfrm>
        </p:grpSpPr>
        <p:sp>
          <p:nvSpPr>
            <p:cNvPr name="Freeform 22" id="22" descr="Team icon"/>
            <p:cNvSpPr/>
            <p:nvPr/>
          </p:nvSpPr>
          <p:spPr>
            <a:xfrm flipH="false" flipV="false" rot="0">
              <a:off x="0" y="0"/>
              <a:ext cx="731520" cy="766705"/>
            </a:xfrm>
            <a:custGeom>
              <a:avLst/>
              <a:gdLst/>
              <a:ahLst/>
              <a:cxnLst/>
              <a:rect r="r" b="b" t="t" l="l"/>
              <a:pathLst>
                <a:path h="76670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6705"/>
                  </a:lnTo>
                  <a:lnTo>
                    <a:pt x="0" y="766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04" t="0" r="-2404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35705" y="298277"/>
            <a:ext cx="2458223" cy="1100061"/>
            <a:chOff x="0" y="0"/>
            <a:chExt cx="3255264" cy="145673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55264" cy="1456739"/>
            </a:xfrm>
            <a:custGeom>
              <a:avLst/>
              <a:gdLst/>
              <a:ahLst/>
              <a:cxnLst/>
              <a:rect r="r" b="b" t="t" l="l"/>
              <a:pathLst>
                <a:path h="1456739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456739"/>
                  </a:lnTo>
                  <a:lnTo>
                    <a:pt x="0" y="14567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781" t="0" r="-4781" b="458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255264" cy="1456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BUGLORDS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7456515" y="7415775"/>
            <a:ext cx="3375660" cy="1908810"/>
          </a:xfrm>
          <a:custGeom>
            <a:avLst/>
            <a:gdLst/>
            <a:ahLst/>
            <a:cxnLst/>
            <a:rect r="r" b="b" t="t" l="l"/>
            <a:pathLst>
              <a:path h="1908810" w="3375660">
                <a:moveTo>
                  <a:pt x="0" y="0"/>
                </a:moveTo>
                <a:lnTo>
                  <a:pt x="3375660" y="0"/>
                </a:lnTo>
                <a:lnTo>
                  <a:pt x="3375660" y="1908810"/>
                </a:lnTo>
                <a:lnTo>
                  <a:pt x="0" y="19088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" t="0" r="-7985" b="-29872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47488" y="9532620"/>
            <a:ext cx="18287543" cy="754380"/>
            <a:chOff x="0" y="0"/>
            <a:chExt cx="2438339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23939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Genesis Ideathon 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3861780" y="7415775"/>
            <a:ext cx="3375660" cy="1908810"/>
          </a:xfrm>
          <a:custGeom>
            <a:avLst/>
            <a:gdLst/>
            <a:ahLst/>
            <a:cxnLst/>
            <a:rect r="r" b="b" t="t" l="l"/>
            <a:pathLst>
              <a:path h="1908810" w="3375660">
                <a:moveTo>
                  <a:pt x="0" y="0"/>
                </a:moveTo>
                <a:lnTo>
                  <a:pt x="3375660" y="0"/>
                </a:lnTo>
                <a:lnTo>
                  <a:pt x="3375660" y="1908810"/>
                </a:lnTo>
                <a:lnTo>
                  <a:pt x="0" y="19088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8094" r="-2967" b="-16385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830607" y="2044841"/>
            <a:ext cx="7143750" cy="1392759"/>
            <a:chOff x="0" y="0"/>
            <a:chExt cx="1881481" cy="36681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81481" cy="366817"/>
            </a:xfrm>
            <a:custGeom>
              <a:avLst/>
              <a:gdLst/>
              <a:ahLst/>
              <a:cxnLst/>
              <a:rect r="r" b="b" t="t" l="l"/>
              <a:pathLst>
                <a:path h="366817" w="1881481">
                  <a:moveTo>
                    <a:pt x="21675" y="0"/>
                  </a:moveTo>
                  <a:lnTo>
                    <a:pt x="1859807" y="0"/>
                  </a:lnTo>
                  <a:cubicBezTo>
                    <a:pt x="1871777" y="0"/>
                    <a:pt x="1881481" y="9704"/>
                    <a:pt x="1881481" y="21675"/>
                  </a:cubicBezTo>
                  <a:lnTo>
                    <a:pt x="1881481" y="345143"/>
                  </a:lnTo>
                  <a:cubicBezTo>
                    <a:pt x="1881481" y="357113"/>
                    <a:pt x="1871777" y="366817"/>
                    <a:pt x="1859807" y="366817"/>
                  </a:cubicBezTo>
                  <a:lnTo>
                    <a:pt x="21675" y="366817"/>
                  </a:lnTo>
                  <a:cubicBezTo>
                    <a:pt x="9704" y="366817"/>
                    <a:pt x="0" y="357113"/>
                    <a:pt x="0" y="345143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881481" cy="414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true" flipV="false" rot="0">
            <a:off x="47736" y="1699832"/>
            <a:ext cx="3614381" cy="690018"/>
          </a:xfrm>
          <a:custGeom>
            <a:avLst/>
            <a:gdLst/>
            <a:ahLst/>
            <a:cxnLst/>
            <a:rect r="r" b="b" t="t" l="l"/>
            <a:pathLst>
              <a:path h="690018" w="3614381">
                <a:moveTo>
                  <a:pt x="3614381" y="0"/>
                </a:moveTo>
                <a:lnTo>
                  <a:pt x="0" y="0"/>
                </a:lnTo>
                <a:lnTo>
                  <a:pt x="0" y="690018"/>
                </a:lnTo>
                <a:lnTo>
                  <a:pt x="3614381" y="690018"/>
                </a:lnTo>
                <a:lnTo>
                  <a:pt x="3614381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7" id="37"/>
          <p:cNvGrpSpPr/>
          <p:nvPr/>
        </p:nvGrpSpPr>
        <p:grpSpPr>
          <a:xfrm rot="0">
            <a:off x="4634578" y="3706684"/>
            <a:ext cx="7900900" cy="1697649"/>
            <a:chOff x="0" y="0"/>
            <a:chExt cx="10534534" cy="2263532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1043829" y="460012"/>
              <a:ext cx="9490705" cy="1803520"/>
              <a:chOff x="0" y="0"/>
              <a:chExt cx="1874707" cy="35625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874707" cy="356251"/>
              </a:xfrm>
              <a:custGeom>
                <a:avLst/>
                <a:gdLst/>
                <a:ahLst/>
                <a:cxnLst/>
                <a:rect r="r" b="b" t="t" l="l"/>
                <a:pathLst>
                  <a:path h="356251" w="1874707">
                    <a:moveTo>
                      <a:pt x="21753" y="0"/>
                    </a:moveTo>
                    <a:lnTo>
                      <a:pt x="1852954" y="0"/>
                    </a:lnTo>
                    <a:cubicBezTo>
                      <a:pt x="1864968" y="0"/>
                      <a:pt x="1874707" y="9739"/>
                      <a:pt x="1874707" y="21753"/>
                    </a:cubicBezTo>
                    <a:lnTo>
                      <a:pt x="1874707" y="334498"/>
                    </a:lnTo>
                    <a:cubicBezTo>
                      <a:pt x="1874707" y="340267"/>
                      <a:pt x="1872415" y="345800"/>
                      <a:pt x="1868336" y="349880"/>
                    </a:cubicBezTo>
                    <a:cubicBezTo>
                      <a:pt x="1864256" y="353959"/>
                      <a:pt x="1858723" y="356251"/>
                      <a:pt x="1852954" y="356251"/>
                    </a:cubicBezTo>
                    <a:lnTo>
                      <a:pt x="21753" y="356251"/>
                    </a:lnTo>
                    <a:cubicBezTo>
                      <a:pt x="15984" y="356251"/>
                      <a:pt x="10451" y="353959"/>
                      <a:pt x="6371" y="349880"/>
                    </a:cubicBezTo>
                    <a:cubicBezTo>
                      <a:pt x="2292" y="345800"/>
                      <a:pt x="0" y="340267"/>
                      <a:pt x="0" y="334498"/>
                    </a:cubicBezTo>
                    <a:lnTo>
                      <a:pt x="0" y="21753"/>
                    </a:lnTo>
                    <a:cubicBezTo>
                      <a:pt x="0" y="15984"/>
                      <a:pt x="2292" y="10451"/>
                      <a:pt x="6371" y="6371"/>
                    </a:cubicBezTo>
                    <a:cubicBezTo>
                      <a:pt x="10451" y="2292"/>
                      <a:pt x="15984" y="0"/>
                      <a:pt x="217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47625"/>
                <a:ext cx="1874707" cy="4038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true" flipV="false" rot="0">
              <a:off x="0" y="0"/>
              <a:ext cx="4819175" cy="920024"/>
            </a:xfrm>
            <a:custGeom>
              <a:avLst/>
              <a:gdLst/>
              <a:ahLst/>
              <a:cxnLst/>
              <a:rect r="r" b="b" t="t" l="l"/>
              <a:pathLst>
                <a:path h="920024" w="4819175">
                  <a:moveTo>
                    <a:pt x="4819175" y="0"/>
                  </a:moveTo>
                  <a:lnTo>
                    <a:pt x="0" y="0"/>
                  </a:lnTo>
                  <a:lnTo>
                    <a:pt x="0" y="920024"/>
                  </a:lnTo>
                  <a:lnTo>
                    <a:pt x="4819175" y="920024"/>
                  </a:lnTo>
                  <a:lnTo>
                    <a:pt x="4819175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 rot="0">
              <a:off x="904129" y="153127"/>
              <a:ext cx="34290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Ou</a:t>
              </a:r>
              <a:r>
                <a:rPr lang="en-US" b="true" sz="279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 fix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399577" y="1034324"/>
              <a:ext cx="8001000" cy="1004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 Predict each tier’s demand from IoT data, then share the limited power supply by priority.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298849" y="250494"/>
              <a:ext cx="391959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479484" y="2190100"/>
            <a:ext cx="7143750" cy="1392759"/>
            <a:chOff x="0" y="0"/>
            <a:chExt cx="1881481" cy="36681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81481" cy="366817"/>
            </a:xfrm>
            <a:custGeom>
              <a:avLst/>
              <a:gdLst/>
              <a:ahLst/>
              <a:cxnLst/>
              <a:rect r="r" b="b" t="t" l="l"/>
              <a:pathLst>
                <a:path h="366817" w="1881481">
                  <a:moveTo>
                    <a:pt x="21675" y="0"/>
                  </a:moveTo>
                  <a:lnTo>
                    <a:pt x="1859807" y="0"/>
                  </a:lnTo>
                  <a:cubicBezTo>
                    <a:pt x="1871777" y="0"/>
                    <a:pt x="1881481" y="9704"/>
                    <a:pt x="1881481" y="21675"/>
                  </a:cubicBezTo>
                  <a:lnTo>
                    <a:pt x="1881481" y="345143"/>
                  </a:lnTo>
                  <a:cubicBezTo>
                    <a:pt x="1881481" y="357113"/>
                    <a:pt x="1871777" y="366817"/>
                    <a:pt x="1859807" y="366817"/>
                  </a:cubicBezTo>
                  <a:lnTo>
                    <a:pt x="21675" y="366817"/>
                  </a:lnTo>
                  <a:cubicBezTo>
                    <a:pt x="9704" y="366817"/>
                    <a:pt x="0" y="357113"/>
                    <a:pt x="0" y="345143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881481" cy="414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true" flipV="false" rot="0">
            <a:off x="9696612" y="1845091"/>
            <a:ext cx="3614381" cy="690018"/>
          </a:xfrm>
          <a:custGeom>
            <a:avLst/>
            <a:gdLst/>
            <a:ahLst/>
            <a:cxnLst/>
            <a:rect r="r" b="b" t="t" l="l"/>
            <a:pathLst>
              <a:path h="690018" w="3614381">
                <a:moveTo>
                  <a:pt x="3614381" y="0"/>
                </a:moveTo>
                <a:lnTo>
                  <a:pt x="0" y="0"/>
                </a:lnTo>
                <a:lnTo>
                  <a:pt x="0" y="690018"/>
                </a:lnTo>
                <a:lnTo>
                  <a:pt x="3614381" y="690018"/>
                </a:lnTo>
                <a:lnTo>
                  <a:pt x="3614381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9" id="49"/>
          <p:cNvGrpSpPr/>
          <p:nvPr/>
        </p:nvGrpSpPr>
        <p:grpSpPr>
          <a:xfrm rot="0">
            <a:off x="1062703" y="5656512"/>
            <a:ext cx="7143750" cy="1392759"/>
            <a:chOff x="0" y="0"/>
            <a:chExt cx="1881481" cy="36681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81481" cy="366817"/>
            </a:xfrm>
            <a:custGeom>
              <a:avLst/>
              <a:gdLst/>
              <a:ahLst/>
              <a:cxnLst/>
              <a:rect r="r" b="b" t="t" l="l"/>
              <a:pathLst>
                <a:path h="366817" w="1881481">
                  <a:moveTo>
                    <a:pt x="21675" y="0"/>
                  </a:moveTo>
                  <a:lnTo>
                    <a:pt x="1859807" y="0"/>
                  </a:lnTo>
                  <a:cubicBezTo>
                    <a:pt x="1871777" y="0"/>
                    <a:pt x="1881481" y="9704"/>
                    <a:pt x="1881481" y="21675"/>
                  </a:cubicBezTo>
                  <a:lnTo>
                    <a:pt x="1881481" y="345143"/>
                  </a:lnTo>
                  <a:cubicBezTo>
                    <a:pt x="1881481" y="357113"/>
                    <a:pt x="1871777" y="366817"/>
                    <a:pt x="1859807" y="366817"/>
                  </a:cubicBezTo>
                  <a:lnTo>
                    <a:pt x="21675" y="366817"/>
                  </a:lnTo>
                  <a:cubicBezTo>
                    <a:pt x="9704" y="366817"/>
                    <a:pt x="0" y="357113"/>
                    <a:pt x="0" y="345143"/>
                  </a:cubicBezTo>
                  <a:lnTo>
                    <a:pt x="0" y="21675"/>
                  </a:lnTo>
                  <a:cubicBezTo>
                    <a:pt x="0" y="9704"/>
                    <a:pt x="9704" y="0"/>
                    <a:pt x="2167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881481" cy="4144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true" flipV="false" rot="0">
            <a:off x="279831" y="5311503"/>
            <a:ext cx="3614381" cy="690018"/>
          </a:xfrm>
          <a:custGeom>
            <a:avLst/>
            <a:gdLst/>
            <a:ahLst/>
            <a:cxnLst/>
            <a:rect r="r" b="b" t="t" l="l"/>
            <a:pathLst>
              <a:path h="690018" w="3614381">
                <a:moveTo>
                  <a:pt x="3614381" y="0"/>
                </a:moveTo>
                <a:lnTo>
                  <a:pt x="0" y="0"/>
                </a:lnTo>
                <a:lnTo>
                  <a:pt x="0" y="690018"/>
                </a:lnTo>
                <a:lnTo>
                  <a:pt x="3614381" y="690018"/>
                </a:lnTo>
                <a:lnTo>
                  <a:pt x="3614381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3" id="53"/>
          <p:cNvGrpSpPr/>
          <p:nvPr/>
        </p:nvGrpSpPr>
        <p:grpSpPr>
          <a:xfrm rot="0">
            <a:off x="10668925" y="5673108"/>
            <a:ext cx="7092069" cy="1354069"/>
            <a:chOff x="0" y="0"/>
            <a:chExt cx="1977910" cy="37763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77910" cy="377637"/>
            </a:xfrm>
            <a:custGeom>
              <a:avLst/>
              <a:gdLst/>
              <a:ahLst/>
              <a:cxnLst/>
              <a:rect r="r" b="b" t="t" l="l"/>
              <a:pathLst>
                <a:path h="377637" w="1977910">
                  <a:moveTo>
                    <a:pt x="21833" y="0"/>
                  </a:moveTo>
                  <a:lnTo>
                    <a:pt x="1956077" y="0"/>
                  </a:lnTo>
                  <a:cubicBezTo>
                    <a:pt x="1961867" y="0"/>
                    <a:pt x="1967421" y="2300"/>
                    <a:pt x="1971515" y="6395"/>
                  </a:cubicBezTo>
                  <a:cubicBezTo>
                    <a:pt x="1975609" y="10489"/>
                    <a:pt x="1977910" y="16042"/>
                    <a:pt x="1977910" y="21833"/>
                  </a:cubicBezTo>
                  <a:lnTo>
                    <a:pt x="1977910" y="355804"/>
                  </a:lnTo>
                  <a:cubicBezTo>
                    <a:pt x="1977910" y="361594"/>
                    <a:pt x="1975609" y="367148"/>
                    <a:pt x="1971515" y="371242"/>
                  </a:cubicBezTo>
                  <a:cubicBezTo>
                    <a:pt x="1967421" y="375336"/>
                    <a:pt x="1961867" y="377637"/>
                    <a:pt x="1956077" y="377637"/>
                  </a:cubicBezTo>
                  <a:lnTo>
                    <a:pt x="21833" y="377637"/>
                  </a:lnTo>
                  <a:cubicBezTo>
                    <a:pt x="16042" y="377637"/>
                    <a:pt x="10489" y="375336"/>
                    <a:pt x="6395" y="371242"/>
                  </a:cubicBezTo>
                  <a:cubicBezTo>
                    <a:pt x="2300" y="367148"/>
                    <a:pt x="0" y="361594"/>
                    <a:pt x="0" y="355804"/>
                  </a:cubicBezTo>
                  <a:lnTo>
                    <a:pt x="0" y="21833"/>
                  </a:lnTo>
                  <a:cubicBezTo>
                    <a:pt x="0" y="16042"/>
                    <a:pt x="2300" y="10489"/>
                    <a:pt x="6395" y="6395"/>
                  </a:cubicBezTo>
                  <a:cubicBezTo>
                    <a:pt x="10489" y="2300"/>
                    <a:pt x="16042" y="0"/>
                    <a:pt x="218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977910" cy="4252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true" flipV="false" rot="0">
            <a:off x="9920098" y="5311503"/>
            <a:ext cx="3600768" cy="687419"/>
          </a:xfrm>
          <a:custGeom>
            <a:avLst/>
            <a:gdLst/>
            <a:ahLst/>
            <a:cxnLst/>
            <a:rect r="r" b="b" t="t" l="l"/>
            <a:pathLst>
              <a:path h="687419" w="3600768">
                <a:moveTo>
                  <a:pt x="3600768" y="0"/>
                </a:moveTo>
                <a:lnTo>
                  <a:pt x="0" y="0"/>
                </a:lnTo>
                <a:lnTo>
                  <a:pt x="0" y="687420"/>
                </a:lnTo>
                <a:lnTo>
                  <a:pt x="3600768" y="687420"/>
                </a:lnTo>
                <a:lnTo>
                  <a:pt x="3600768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7" id="57"/>
          <p:cNvGrpSpPr/>
          <p:nvPr/>
        </p:nvGrpSpPr>
        <p:grpSpPr>
          <a:xfrm rot="0">
            <a:off x="16360159" y="472916"/>
            <a:ext cx="1263074" cy="1263074"/>
            <a:chOff x="0" y="0"/>
            <a:chExt cx="1664970" cy="166497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6773368" y="587787"/>
            <a:ext cx="616492" cy="802103"/>
            <a:chOff x="0" y="0"/>
            <a:chExt cx="1068260" cy="1389888"/>
          </a:xfrm>
        </p:grpSpPr>
        <p:sp>
          <p:nvSpPr>
            <p:cNvPr name="Freeform 60" id="60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5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6925925" y="9324585"/>
            <a:ext cx="697309" cy="593903"/>
            <a:chOff x="0" y="0"/>
            <a:chExt cx="929745" cy="791870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0" y="0"/>
              <a:ext cx="914400" cy="791870"/>
              <a:chOff x="0" y="0"/>
              <a:chExt cx="914400" cy="79187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914400" cy="791845"/>
              </a:xfrm>
              <a:custGeom>
                <a:avLst/>
                <a:gdLst/>
                <a:ahLst/>
                <a:cxnLst/>
                <a:rect r="r" b="b" t="t" l="l"/>
                <a:pathLst>
                  <a:path h="791845" w="914400">
                    <a:moveTo>
                      <a:pt x="0" y="395986"/>
                    </a:moveTo>
                    <a:lnTo>
                      <a:pt x="197993" y="0"/>
                    </a:lnTo>
                    <a:lnTo>
                      <a:pt x="716407" y="0"/>
                    </a:lnTo>
                    <a:lnTo>
                      <a:pt x="914400" y="395986"/>
                    </a:lnTo>
                    <a:lnTo>
                      <a:pt x="716407" y="791845"/>
                    </a:lnTo>
                    <a:lnTo>
                      <a:pt x="197993" y="791845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name="Group 64" id="64"/>
            <p:cNvGrpSpPr/>
            <p:nvPr/>
          </p:nvGrpSpPr>
          <p:grpSpPr>
            <a:xfrm rot="0">
              <a:off x="15345" y="0"/>
              <a:ext cx="914400" cy="791870"/>
              <a:chOff x="0" y="0"/>
              <a:chExt cx="914400" cy="79187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914400" cy="791870"/>
              </a:xfrm>
              <a:custGeom>
                <a:avLst/>
                <a:gdLst/>
                <a:ahLst/>
                <a:cxnLst/>
                <a:rect r="r" b="b" t="t" l="l"/>
                <a:pathLst>
                  <a:path h="79187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91870"/>
                    </a:lnTo>
                    <a:lnTo>
                      <a:pt x="0" y="79187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61110" t="0" r="-61110" b="0"/>
                </a:stretch>
              </a:blip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0"/>
                <a:ext cx="914400" cy="7918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980"/>
                  </a:lnSpc>
                </a:pPr>
                <a:r>
                  <a:rPr lang="en-US" sz="1650" b="true">
                    <a:solidFill>
                      <a:srgbClr val="052B35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2</a:t>
                </a:r>
              </a:p>
            </p:txBody>
          </p:sp>
        </p:grpSp>
      </p:grpSp>
      <p:sp>
        <p:nvSpPr>
          <p:cNvPr name="Freeform 67" id="67"/>
          <p:cNvSpPr/>
          <p:nvPr/>
        </p:nvSpPr>
        <p:spPr>
          <a:xfrm flipH="false" flipV="false" rot="0">
            <a:off x="11051250" y="7541222"/>
            <a:ext cx="3375660" cy="1890370"/>
          </a:xfrm>
          <a:custGeom>
            <a:avLst/>
            <a:gdLst/>
            <a:ahLst/>
            <a:cxnLst/>
            <a:rect r="r" b="b" t="t" l="l"/>
            <a:pathLst>
              <a:path h="1890370" w="3375660">
                <a:moveTo>
                  <a:pt x="0" y="0"/>
                </a:moveTo>
                <a:lnTo>
                  <a:pt x="3375660" y="0"/>
                </a:lnTo>
                <a:lnTo>
                  <a:pt x="3375660" y="1890369"/>
                </a:lnTo>
                <a:lnTo>
                  <a:pt x="0" y="189036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68" id="68"/>
          <p:cNvSpPr txBox="true"/>
          <p:nvPr/>
        </p:nvSpPr>
        <p:spPr>
          <a:xfrm rot="0">
            <a:off x="1002168" y="1809573"/>
            <a:ext cx="2571750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Problem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47353" y="2475575"/>
            <a:ext cx="6308612" cy="815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</a:t>
            </a:r>
            <a:r>
              <a:rPr lang="en-US" b="true" sz="23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 power is short, feeders are cut blindly, with no thought for who needs it most.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23803" y="1877836"/>
            <a:ext cx="28368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479484" y="1915394"/>
            <a:ext cx="2638180" cy="49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1"/>
              </a:lnSpc>
              <a:spcBef>
                <a:spcPct val="0"/>
              </a:spcBef>
            </a:pPr>
            <a:r>
              <a:rPr lang="en-US" b="true" sz="2872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Why</a:t>
            </a:r>
            <a:r>
              <a:rPr lang="en-US" b="true" sz="2872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now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746294" y="2707398"/>
            <a:ext cx="6000750" cy="76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</a:t>
            </a:r>
            <a:r>
              <a:rPr lang="en-US" b="true" sz="21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eatwaves, peak loads and variable renewables are causing more shortages.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889504" y="2011982"/>
            <a:ext cx="30639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04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34263" y="5404734"/>
            <a:ext cx="2571750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Result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29513" y="6172971"/>
            <a:ext cx="6000750" cy="76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Hosp</a:t>
            </a:r>
            <a:r>
              <a:rPr lang="en-US" b="true" sz="21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itals and water supply lose power the same way as shops.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36070" y="5475972"/>
            <a:ext cx="35993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850061" y="5462992"/>
            <a:ext cx="2428672" cy="42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  <a:spcBef>
                <a:spcPct val="0"/>
              </a:spcBef>
            </a:pPr>
            <a:r>
              <a:rPr lang="en-US" b="true" sz="250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</a:t>
            </a:r>
            <a:r>
              <a:rPr lang="en-US" b="true" sz="2508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hy it’s possible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911382" y="6163164"/>
            <a:ext cx="5666902" cy="38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  <a:spcBef>
                <a:spcPct val="0"/>
              </a:spcBef>
            </a:pPr>
            <a:r>
              <a:rPr lang="en-US" b="true" sz="2224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Sma</a:t>
            </a:r>
            <a:r>
              <a:rPr lang="en-US" b="true" sz="2224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rt meters now give real-time data.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104261" y="5502003"/>
            <a:ext cx="296575" cy="28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9"/>
              </a:lnSpc>
              <a:spcBef>
                <a:spcPct val="0"/>
              </a:spcBef>
            </a:pPr>
            <a:r>
              <a:rPr lang="en-US" b="true" sz="1699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05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838180" y="1023687"/>
            <a:ext cx="10704850" cy="663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</a:t>
            </a:r>
            <a:r>
              <a:rPr lang="en-US" b="true" sz="3799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 hospital and a shop lose power the same way. It shouldn’t be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5903559" y="7036594"/>
            <a:ext cx="2161927" cy="1875473"/>
            <a:chOff x="0" y="0"/>
            <a:chExt cx="2882570" cy="25006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613988" y="8031004"/>
            <a:ext cx="1449219" cy="1258252"/>
            <a:chOff x="0" y="0"/>
            <a:chExt cx="1932292" cy="16776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7357188" y="5767864"/>
            <a:ext cx="1449219" cy="1258252"/>
            <a:chOff x="0" y="0"/>
            <a:chExt cx="1932292" cy="16776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312414" y="482688"/>
            <a:ext cx="11288268" cy="1238956"/>
            <a:chOff x="0" y="0"/>
            <a:chExt cx="14996160" cy="1645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WHO IS AFFECTED?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2" id="22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255264" cy="1389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BUGLORDS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2023110"/>
            <a:ext cx="685800" cy="593903"/>
            <a:chOff x="0" y="0"/>
            <a:chExt cx="914400" cy="7918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0120" y="2113636"/>
            <a:ext cx="411480" cy="411480"/>
            <a:chOff x="0" y="0"/>
            <a:chExt cx="548640" cy="548640"/>
          </a:xfrm>
        </p:grpSpPr>
        <p:sp>
          <p:nvSpPr>
            <p:cNvPr name="Freeform 29" id="29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755648" y="1954530"/>
            <a:ext cx="14401800" cy="754380"/>
            <a:chOff x="0" y="0"/>
            <a:chExt cx="1920240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92024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Everyone is hit by a power cut, but not equally.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65860" y="2677468"/>
            <a:ext cx="13737102" cy="413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1586" indent="-190793" lvl="1">
              <a:lnSpc>
                <a:spcPts val="2530"/>
              </a:lnSpc>
              <a:buFont typeface="Arial"/>
              <a:buChar char="•"/>
            </a:pPr>
            <a:r>
              <a:rPr lang="en-US" b="true" sz="2108">
                <a:solidFill>
                  <a:srgbClr val="0945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</a:t>
            </a:r>
            <a:r>
              <a:rPr lang="en-US" b="true" sz="2108">
                <a:solidFill>
                  <a:srgbClr val="0945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 never lose power: hospitals, water supply, emergency services, telecom towers,etc,.</a:t>
            </a:r>
          </a:p>
          <a:p>
            <a:pPr algn="l">
              <a:lnSpc>
                <a:spcPts val="2530"/>
              </a:lnSpc>
            </a:pPr>
          </a:p>
          <a:p>
            <a:pPr algn="l" marL="381586" indent="-190793" lvl="1">
              <a:lnSpc>
                <a:spcPts val="2530"/>
              </a:lnSpc>
              <a:buFont typeface="Arial"/>
              <a:buChar char="•"/>
            </a:pPr>
            <a:r>
              <a:rPr lang="en-US" b="true" sz="2108">
                <a:solidFill>
                  <a:srgbClr val="0945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Need extra care: patients on oxygen or dialysis, the elderly,etc,.</a:t>
            </a:r>
          </a:p>
          <a:p>
            <a:pPr algn="l">
              <a:lnSpc>
                <a:spcPts val="2530"/>
              </a:lnSpc>
            </a:pPr>
          </a:p>
          <a:p>
            <a:pPr algn="l" marL="381586" indent="-190793" lvl="1">
              <a:lnSpc>
                <a:spcPts val="2530"/>
              </a:lnSpc>
              <a:buFont typeface="Arial"/>
              <a:buChar char="•"/>
            </a:pPr>
            <a:r>
              <a:rPr lang="en-US" b="true" sz="2108">
                <a:solidFill>
                  <a:srgbClr val="0945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Can handle a short cut: homes, shops, offices, factories,etc,.</a:t>
            </a:r>
          </a:p>
          <a:p>
            <a:pPr algn="l">
              <a:lnSpc>
                <a:spcPts val="2530"/>
              </a:lnSpc>
            </a:pPr>
          </a:p>
          <a:p>
            <a:pPr algn="l" marL="381586" indent="-190793" lvl="1">
              <a:lnSpc>
                <a:spcPts val="2530"/>
              </a:lnSpc>
              <a:buFont typeface="Arial"/>
              <a:buChar char="•"/>
            </a:pPr>
            <a:r>
              <a:rPr lang="en-US" b="true" sz="2108">
                <a:solidFill>
                  <a:srgbClr val="0945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Hit hardest by blind cuts: people who depend on power for health and safety, not just comfort.</a:t>
            </a:r>
          </a:p>
          <a:p>
            <a:pPr algn="l">
              <a:lnSpc>
                <a:spcPts val="2530"/>
              </a:lnSpc>
            </a:pPr>
          </a:p>
          <a:p>
            <a:pPr algn="l" marL="381586" indent="-190793" lvl="1">
              <a:lnSpc>
                <a:spcPts val="2530"/>
              </a:lnSpc>
              <a:buFont typeface="Arial"/>
              <a:buChar char="•"/>
            </a:pPr>
            <a:r>
              <a:rPr lang="en-US" b="true" sz="2108">
                <a:solidFill>
                  <a:srgbClr val="0945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Utilities and government: get fairer load shedding, fewer complaints and better planning.</a:t>
            </a:r>
          </a:p>
          <a:p>
            <a:pPr algn="l">
              <a:lnSpc>
                <a:spcPts val="2530"/>
              </a:lnSpc>
            </a:pPr>
          </a:p>
          <a:p>
            <a:pPr algn="l" marL="381586" indent="-190793" lvl="1">
              <a:lnSpc>
                <a:spcPts val="2530"/>
              </a:lnSpc>
              <a:buFont typeface="Arial"/>
              <a:buChar char="•"/>
            </a:pPr>
            <a:r>
              <a:rPr lang="en-US" b="true" sz="2108">
                <a:solidFill>
                  <a:srgbClr val="0945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Who gains: patients and citizens stay safe, and the economy loses less.</a:t>
            </a:r>
          </a:p>
          <a:p>
            <a:pPr algn="l">
              <a:lnSpc>
                <a:spcPts val="2530"/>
              </a:lnSpc>
            </a:pPr>
          </a:p>
          <a:p>
            <a:pPr algn="l">
              <a:lnSpc>
                <a:spcPts val="2530"/>
              </a:lnSpc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914400" cy="79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6856897"/>
            <a:ext cx="5195160" cy="2234866"/>
            <a:chOff x="0" y="0"/>
            <a:chExt cx="6785610" cy="29190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85610" cy="2919101"/>
            </a:xfrm>
            <a:custGeom>
              <a:avLst/>
              <a:gdLst/>
              <a:ahLst/>
              <a:cxnLst/>
              <a:rect r="r" b="b" t="t" l="l"/>
              <a:pathLst>
                <a:path h="2919101" w="6785610">
                  <a:moveTo>
                    <a:pt x="0" y="233553"/>
                  </a:moveTo>
                  <a:cubicBezTo>
                    <a:pt x="0" y="104521"/>
                    <a:pt x="104521" y="0"/>
                    <a:pt x="233553" y="0"/>
                  </a:cubicBezTo>
                  <a:lnTo>
                    <a:pt x="6552057" y="0"/>
                  </a:lnTo>
                  <a:cubicBezTo>
                    <a:pt x="6681088" y="0"/>
                    <a:pt x="6785610" y="104521"/>
                    <a:pt x="6785610" y="233553"/>
                  </a:cubicBezTo>
                  <a:lnTo>
                    <a:pt x="6785610" y="2685548"/>
                  </a:lnTo>
                  <a:cubicBezTo>
                    <a:pt x="6785610" y="2814580"/>
                    <a:pt x="6681088" y="2919101"/>
                    <a:pt x="6552057" y="2919101"/>
                  </a:cubicBezTo>
                  <a:lnTo>
                    <a:pt x="233553" y="2919101"/>
                  </a:lnTo>
                  <a:cubicBezTo>
                    <a:pt x="104521" y="2919101"/>
                    <a:pt x="0" y="2814453"/>
                    <a:pt x="0" y="2685548"/>
                  </a:cubicBezTo>
                  <a:close/>
                </a:path>
              </a:pathLst>
            </a:custGeom>
            <a:solidFill>
              <a:srgbClr val="02685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785610" cy="291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7AC143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TIER 1  |  CRITICAL</a:t>
              </a:r>
            </a:p>
            <a:p>
              <a:pPr algn="ctr">
                <a:lnSpc>
                  <a:spcPts val="2340"/>
                </a:lnSpc>
              </a:pP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Hospitals, Water supply, Emergency services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358968" y="6886781"/>
            <a:ext cx="5195160" cy="2234866"/>
            <a:chOff x="0" y="0"/>
            <a:chExt cx="6785610" cy="29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785610" cy="2919101"/>
            </a:xfrm>
            <a:custGeom>
              <a:avLst/>
              <a:gdLst/>
              <a:ahLst/>
              <a:cxnLst/>
              <a:rect r="r" b="b" t="t" l="l"/>
              <a:pathLst>
                <a:path h="2919101" w="6785610">
                  <a:moveTo>
                    <a:pt x="0" y="233553"/>
                  </a:moveTo>
                  <a:cubicBezTo>
                    <a:pt x="0" y="104521"/>
                    <a:pt x="104521" y="0"/>
                    <a:pt x="233553" y="0"/>
                  </a:cubicBezTo>
                  <a:lnTo>
                    <a:pt x="6552057" y="0"/>
                  </a:lnTo>
                  <a:cubicBezTo>
                    <a:pt x="6681088" y="0"/>
                    <a:pt x="6785610" y="104521"/>
                    <a:pt x="6785610" y="233553"/>
                  </a:cubicBezTo>
                  <a:lnTo>
                    <a:pt x="6785610" y="2685548"/>
                  </a:lnTo>
                  <a:cubicBezTo>
                    <a:pt x="6785610" y="2814580"/>
                    <a:pt x="6681088" y="2919101"/>
                    <a:pt x="6552057" y="2919101"/>
                  </a:cubicBezTo>
                  <a:lnTo>
                    <a:pt x="233553" y="2919101"/>
                  </a:lnTo>
                  <a:cubicBezTo>
                    <a:pt x="104521" y="2919101"/>
                    <a:pt x="0" y="2814453"/>
                    <a:pt x="0" y="2685548"/>
                  </a:cubicBezTo>
                  <a:close/>
                </a:path>
              </a:pathLst>
            </a:custGeom>
            <a:solidFill>
              <a:srgbClr val="4FA278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6785610" cy="2919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2685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TIER 2  |  COMMERCIAL</a:t>
              </a:r>
            </a:p>
            <a:p>
              <a:pPr algn="ctr">
                <a:lnSpc>
                  <a:spcPts val="2340"/>
                </a:lnSpc>
              </a:pP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Shops, Offices, Factories, Food storage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003102" y="6811318"/>
            <a:ext cx="5195160" cy="2243976"/>
            <a:chOff x="0" y="0"/>
            <a:chExt cx="6785610" cy="29309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785610" cy="2930999"/>
            </a:xfrm>
            <a:custGeom>
              <a:avLst/>
              <a:gdLst/>
              <a:ahLst/>
              <a:cxnLst/>
              <a:rect r="r" b="b" t="t" l="l"/>
              <a:pathLst>
                <a:path h="2930999" w="6785610">
                  <a:moveTo>
                    <a:pt x="0" y="234505"/>
                  </a:moveTo>
                  <a:cubicBezTo>
                    <a:pt x="0" y="104947"/>
                    <a:pt x="104521" y="0"/>
                    <a:pt x="233553" y="0"/>
                  </a:cubicBezTo>
                  <a:lnTo>
                    <a:pt x="6552057" y="0"/>
                  </a:lnTo>
                  <a:cubicBezTo>
                    <a:pt x="6681088" y="0"/>
                    <a:pt x="6785610" y="104947"/>
                    <a:pt x="6785610" y="234505"/>
                  </a:cubicBezTo>
                  <a:lnTo>
                    <a:pt x="6785610" y="2696494"/>
                  </a:lnTo>
                  <a:cubicBezTo>
                    <a:pt x="6785610" y="2826052"/>
                    <a:pt x="6681088" y="2930999"/>
                    <a:pt x="6552057" y="2930999"/>
                  </a:cubicBezTo>
                  <a:lnTo>
                    <a:pt x="233553" y="2930999"/>
                  </a:lnTo>
                  <a:cubicBezTo>
                    <a:pt x="104521" y="2930999"/>
                    <a:pt x="0" y="2825924"/>
                    <a:pt x="0" y="2696494"/>
                  </a:cubicBezTo>
                  <a:close/>
                </a:path>
              </a:pathLst>
            </a:custGeom>
            <a:solidFill>
              <a:srgbClr val="7AC143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6785610" cy="29309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2685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TIER 3  |  DOMESTIC</a:t>
              </a:r>
            </a:p>
            <a:p>
              <a:pPr algn="ctr">
                <a:lnSpc>
                  <a:spcPts val="2340"/>
                </a:lnSpc>
              </a:pP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Homes, Schools, Parks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523939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Genesis Ideathon 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925925" y="9324585"/>
            <a:ext cx="697309" cy="593903"/>
            <a:chOff x="0" y="0"/>
            <a:chExt cx="929745" cy="79187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914400" cy="791870"/>
              <a:chOff x="0" y="0"/>
              <a:chExt cx="914400" cy="79187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914400" cy="791845"/>
              </a:xfrm>
              <a:custGeom>
                <a:avLst/>
                <a:gdLst/>
                <a:ahLst/>
                <a:cxnLst/>
                <a:rect r="r" b="b" t="t" l="l"/>
                <a:pathLst>
                  <a:path h="791845" w="914400">
                    <a:moveTo>
                      <a:pt x="0" y="395986"/>
                    </a:moveTo>
                    <a:lnTo>
                      <a:pt x="197993" y="0"/>
                    </a:lnTo>
                    <a:lnTo>
                      <a:pt x="716407" y="0"/>
                    </a:lnTo>
                    <a:lnTo>
                      <a:pt x="914400" y="395986"/>
                    </a:lnTo>
                    <a:lnTo>
                      <a:pt x="716407" y="791845"/>
                    </a:lnTo>
                    <a:lnTo>
                      <a:pt x="197993" y="791845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name="Group 54" id="54"/>
            <p:cNvGrpSpPr/>
            <p:nvPr/>
          </p:nvGrpSpPr>
          <p:grpSpPr>
            <a:xfrm rot="0">
              <a:off x="15345" y="0"/>
              <a:ext cx="914400" cy="791870"/>
              <a:chOff x="0" y="0"/>
              <a:chExt cx="914400" cy="79187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14400" cy="791870"/>
              </a:xfrm>
              <a:custGeom>
                <a:avLst/>
                <a:gdLst/>
                <a:ahLst/>
                <a:cxnLst/>
                <a:rect r="r" b="b" t="t" l="l"/>
                <a:pathLst>
                  <a:path h="791870" w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791870"/>
                    </a:lnTo>
                    <a:lnTo>
                      <a:pt x="0" y="79187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-61110" t="0" r="-61110" b="0"/>
                </a:stretch>
              </a:blip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0"/>
                <a:ext cx="914400" cy="79187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980"/>
                  </a:lnSpc>
                </a:pPr>
                <a:r>
                  <a:rPr lang="en-US" sz="1650" b="true">
                    <a:solidFill>
                      <a:srgbClr val="052B35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3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11423" y="-353848"/>
            <a:ext cx="11247120" cy="2637160"/>
            <a:chOff x="0" y="0"/>
            <a:chExt cx="14996160" cy="35162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996161" cy="3516213"/>
            </a:xfrm>
            <a:custGeom>
              <a:avLst/>
              <a:gdLst/>
              <a:ahLst/>
              <a:cxnLst/>
              <a:rect r="r" b="b" t="t" l="l"/>
              <a:pathLst>
                <a:path h="3516213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3516213"/>
                  </a:lnTo>
                  <a:lnTo>
                    <a:pt x="0" y="35162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696" r="0" b="-650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4996160" cy="3535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 u="sng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CURRENT SITUATION &amp; CONTEXT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14" id="14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255264" cy="13994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449">
                  <a:solidFill>
                    <a:srgbClr val="5B6F6B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sz="2250" spc="749">
                  <a:solidFill>
                    <a:srgbClr val="026855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BUGLORDS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002440" y="2517237"/>
            <a:ext cx="3119232" cy="41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31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B</a:t>
            </a:r>
            <a:r>
              <a:rPr lang="en-US" sz="231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lunt on/off cuts. </a:t>
            </a:r>
          </a:p>
        </p:txBody>
      </p:sp>
      <p:grpSp>
        <p:nvGrpSpPr>
          <p:cNvPr name="Group 19" id="19"/>
          <p:cNvGrpSpPr/>
          <p:nvPr/>
        </p:nvGrpSpPr>
        <p:grpSpPr>
          <a:xfrm rot="5400000">
            <a:off x="17139348" y="5927465"/>
            <a:ext cx="1531271" cy="1329492"/>
            <a:chOff x="0" y="0"/>
            <a:chExt cx="1932292" cy="16776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0" y="9614916"/>
            <a:ext cx="18287543" cy="893961"/>
            <a:chOff x="0" y="0"/>
            <a:chExt cx="24383390" cy="11919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3364" cy="1191949"/>
            </a:xfrm>
            <a:custGeom>
              <a:avLst/>
              <a:gdLst/>
              <a:ahLst/>
              <a:cxnLst/>
              <a:rect r="r" b="b" t="t" l="l"/>
              <a:pathLst>
                <a:path h="1191949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191949"/>
                  </a:lnTo>
                  <a:lnTo>
                    <a:pt x="0" y="1191949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914400" cy="79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052B35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523939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Genesis Ideathon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99733" y="3895815"/>
            <a:ext cx="9881086" cy="754380"/>
            <a:chOff x="0" y="0"/>
            <a:chExt cx="13174782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174782" cy="1005840"/>
            </a:xfrm>
            <a:custGeom>
              <a:avLst/>
              <a:gdLst/>
              <a:ahLst/>
              <a:cxnLst/>
              <a:rect r="r" b="b" t="t" l="l"/>
              <a:pathLst>
                <a:path h="1005840" w="13174782">
                  <a:moveTo>
                    <a:pt x="0" y="0"/>
                  </a:moveTo>
                  <a:lnTo>
                    <a:pt x="13174782" y="0"/>
                  </a:lnTo>
                  <a:lnTo>
                    <a:pt x="1317478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1987" r="-45751" b="-3219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3174782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094542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Shortages are handled reactively, with little priority or advance notice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8355" y="5466981"/>
            <a:ext cx="3983292" cy="1823180"/>
            <a:chOff x="0" y="0"/>
            <a:chExt cx="4859998" cy="22244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60036" cy="2224530"/>
            </a:xfrm>
            <a:custGeom>
              <a:avLst/>
              <a:gdLst/>
              <a:ahLst/>
              <a:cxnLst/>
              <a:rect r="r" b="b" t="t" l="l"/>
              <a:pathLst>
                <a:path h="2224530" w="4860036">
                  <a:moveTo>
                    <a:pt x="0" y="177979"/>
                  </a:moveTo>
                  <a:cubicBezTo>
                    <a:pt x="0" y="79645"/>
                    <a:pt x="93091" y="0"/>
                    <a:pt x="208026" y="0"/>
                  </a:cubicBezTo>
                  <a:lnTo>
                    <a:pt x="4652010" y="0"/>
                  </a:lnTo>
                  <a:cubicBezTo>
                    <a:pt x="4766945" y="0"/>
                    <a:pt x="4860036" y="79645"/>
                    <a:pt x="4860036" y="177979"/>
                  </a:cubicBezTo>
                  <a:lnTo>
                    <a:pt x="4860036" y="2046540"/>
                  </a:lnTo>
                  <a:cubicBezTo>
                    <a:pt x="4860036" y="2144874"/>
                    <a:pt x="4766945" y="2224530"/>
                    <a:pt x="4652010" y="2224530"/>
                  </a:cubicBezTo>
                  <a:lnTo>
                    <a:pt x="208026" y="2224530"/>
                  </a:lnTo>
                  <a:cubicBezTo>
                    <a:pt x="93091" y="2224411"/>
                    <a:pt x="0" y="2144766"/>
                    <a:pt x="0" y="2046540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859998" cy="2233979"/>
            </a:xfrm>
            <a:prstGeom prst="rect">
              <a:avLst/>
            </a:prstGeom>
          </p:spPr>
          <p:txBody>
            <a:bodyPr anchor="ctr" rtlCol="false" tIns="55515" lIns="55515" bIns="55515" rIns="55515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AC143"/>
                  </a:solidFill>
                  <a:latin typeface="Lovelo"/>
                  <a:ea typeface="Lovelo"/>
                  <a:cs typeface="Lovelo"/>
                  <a:sym typeface="Lovelo"/>
                </a:rPr>
                <a:t>STEP 1</a:t>
              </a:r>
            </a:p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Shortfall is noticed by the grid operator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413408" y="5466981"/>
            <a:ext cx="3983292" cy="1826761"/>
            <a:chOff x="0" y="0"/>
            <a:chExt cx="4859998" cy="222882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60036" cy="2228900"/>
            </a:xfrm>
            <a:custGeom>
              <a:avLst/>
              <a:gdLst/>
              <a:ahLst/>
              <a:cxnLst/>
              <a:rect r="r" b="b" t="t" l="l"/>
              <a:pathLst>
                <a:path h="2228900" w="4860036">
                  <a:moveTo>
                    <a:pt x="0" y="178329"/>
                  </a:moveTo>
                  <a:cubicBezTo>
                    <a:pt x="0" y="79801"/>
                    <a:pt x="93091" y="0"/>
                    <a:pt x="208026" y="0"/>
                  </a:cubicBezTo>
                  <a:lnTo>
                    <a:pt x="4652010" y="0"/>
                  </a:lnTo>
                  <a:cubicBezTo>
                    <a:pt x="4766945" y="0"/>
                    <a:pt x="4860036" y="79801"/>
                    <a:pt x="4860036" y="178329"/>
                  </a:cubicBezTo>
                  <a:lnTo>
                    <a:pt x="4860036" y="2050561"/>
                  </a:lnTo>
                  <a:cubicBezTo>
                    <a:pt x="4860036" y="2149088"/>
                    <a:pt x="4766945" y="2228900"/>
                    <a:pt x="4652010" y="2228900"/>
                  </a:cubicBezTo>
                  <a:lnTo>
                    <a:pt x="208026" y="2228900"/>
                  </a:lnTo>
                  <a:cubicBezTo>
                    <a:pt x="93091" y="2228780"/>
                    <a:pt x="0" y="2148979"/>
                    <a:pt x="0" y="2050561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859998" cy="2238349"/>
            </a:xfrm>
            <a:prstGeom prst="rect">
              <a:avLst/>
            </a:prstGeom>
          </p:spPr>
          <p:txBody>
            <a:bodyPr anchor="ctr" rtlCol="false" tIns="55515" lIns="55515" bIns="55515" rIns="55515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AC143"/>
                  </a:solidFill>
                  <a:latin typeface="Lovelo"/>
                  <a:ea typeface="Lovelo"/>
                  <a:cs typeface="Lovelo"/>
                  <a:sym typeface="Lovelo"/>
                </a:rPr>
                <a:t>STEP 2</a:t>
              </a:r>
            </a:p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Cuts follow fixed feeder lists or rotation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413408" y="7390710"/>
            <a:ext cx="3983292" cy="1826761"/>
            <a:chOff x="0" y="0"/>
            <a:chExt cx="4859998" cy="22288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60036" cy="2228900"/>
            </a:xfrm>
            <a:custGeom>
              <a:avLst/>
              <a:gdLst/>
              <a:ahLst/>
              <a:cxnLst/>
              <a:rect r="r" b="b" t="t" l="l"/>
              <a:pathLst>
                <a:path h="2228900" w="4860036">
                  <a:moveTo>
                    <a:pt x="0" y="178329"/>
                  </a:moveTo>
                  <a:cubicBezTo>
                    <a:pt x="0" y="79801"/>
                    <a:pt x="93091" y="0"/>
                    <a:pt x="208026" y="0"/>
                  </a:cubicBezTo>
                  <a:lnTo>
                    <a:pt x="4652010" y="0"/>
                  </a:lnTo>
                  <a:cubicBezTo>
                    <a:pt x="4766945" y="0"/>
                    <a:pt x="4860036" y="79801"/>
                    <a:pt x="4860036" y="178329"/>
                  </a:cubicBezTo>
                  <a:lnTo>
                    <a:pt x="4860036" y="2050561"/>
                  </a:lnTo>
                  <a:cubicBezTo>
                    <a:pt x="4860036" y="2149088"/>
                    <a:pt x="4766945" y="2228900"/>
                    <a:pt x="4652010" y="2228900"/>
                  </a:cubicBezTo>
                  <a:lnTo>
                    <a:pt x="208026" y="2228900"/>
                  </a:lnTo>
                  <a:cubicBezTo>
                    <a:pt x="93091" y="2228780"/>
                    <a:pt x="0" y="2148979"/>
                    <a:pt x="0" y="2050561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859998" cy="2238349"/>
            </a:xfrm>
            <a:prstGeom prst="rect">
              <a:avLst/>
            </a:prstGeom>
          </p:spPr>
          <p:txBody>
            <a:bodyPr anchor="ctr" rtlCol="false" tIns="55515" lIns="55515" bIns="55515" rIns="55515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7AC143"/>
                  </a:solidFill>
                  <a:latin typeface="Lovelo"/>
                  <a:ea typeface="Lovelo"/>
                  <a:cs typeface="Lovelo"/>
                  <a:sym typeface="Lovelo"/>
                </a:rPr>
                <a:t>STEP 4</a:t>
              </a:r>
            </a:p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Power returns when supply recovers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38044" y="7390710"/>
            <a:ext cx="3983292" cy="1823180"/>
            <a:chOff x="0" y="0"/>
            <a:chExt cx="4859998" cy="222445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60036" cy="2224530"/>
            </a:xfrm>
            <a:custGeom>
              <a:avLst/>
              <a:gdLst/>
              <a:ahLst/>
              <a:cxnLst/>
              <a:rect r="r" b="b" t="t" l="l"/>
              <a:pathLst>
                <a:path h="2224530" w="4860036">
                  <a:moveTo>
                    <a:pt x="0" y="177979"/>
                  </a:moveTo>
                  <a:cubicBezTo>
                    <a:pt x="0" y="79645"/>
                    <a:pt x="93091" y="0"/>
                    <a:pt x="208026" y="0"/>
                  </a:cubicBezTo>
                  <a:lnTo>
                    <a:pt x="4652010" y="0"/>
                  </a:lnTo>
                  <a:cubicBezTo>
                    <a:pt x="4766945" y="0"/>
                    <a:pt x="4860036" y="79645"/>
                    <a:pt x="4860036" y="177979"/>
                  </a:cubicBezTo>
                  <a:lnTo>
                    <a:pt x="4860036" y="2046540"/>
                  </a:lnTo>
                  <a:cubicBezTo>
                    <a:pt x="4860036" y="2144874"/>
                    <a:pt x="4766945" y="2224530"/>
                    <a:pt x="4652010" y="2224530"/>
                  </a:cubicBezTo>
                  <a:lnTo>
                    <a:pt x="208026" y="2224530"/>
                  </a:lnTo>
                  <a:cubicBezTo>
                    <a:pt x="93091" y="2224411"/>
                    <a:pt x="0" y="2144766"/>
                    <a:pt x="0" y="2046540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4859998" cy="2233979"/>
            </a:xfrm>
            <a:prstGeom prst="rect">
              <a:avLst/>
            </a:prstGeom>
          </p:spPr>
          <p:txBody>
            <a:bodyPr anchor="ctr" rtlCol="false" tIns="55515" lIns="55515" bIns="55515" rIns="55515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AC143"/>
                  </a:solidFill>
                  <a:latin typeface="Lovelo"/>
                  <a:ea typeface="Lovelo"/>
                  <a:cs typeface="Lovelo"/>
                  <a:sym typeface="Lovelo"/>
                </a:rPr>
                <a:t>STEP 3</a:t>
              </a:r>
            </a:p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Consumers get little or no advance notice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4269006" y="7663665"/>
            <a:ext cx="1540682" cy="1337663"/>
            <a:chOff x="0" y="0"/>
            <a:chExt cx="1932292" cy="16776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201707" y="1897516"/>
            <a:ext cx="3927550" cy="2320960"/>
            <a:chOff x="0" y="0"/>
            <a:chExt cx="1062524" cy="6278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62524" cy="627892"/>
            </a:xfrm>
            <a:custGeom>
              <a:avLst/>
              <a:gdLst/>
              <a:ahLst/>
              <a:cxnLst/>
              <a:rect r="r" b="b" t="t" l="l"/>
              <a:pathLst>
                <a:path h="627892" w="1062524">
                  <a:moveTo>
                    <a:pt x="1062524" y="39424"/>
                  </a:moveTo>
                  <a:lnTo>
                    <a:pt x="1062524" y="588468"/>
                  </a:lnTo>
                  <a:cubicBezTo>
                    <a:pt x="1062524" y="598924"/>
                    <a:pt x="1058371" y="608952"/>
                    <a:pt x="1050977" y="616345"/>
                  </a:cubicBezTo>
                  <a:cubicBezTo>
                    <a:pt x="1043584" y="623738"/>
                    <a:pt x="1033556" y="627892"/>
                    <a:pt x="1023101" y="627892"/>
                  </a:cubicBezTo>
                  <a:lnTo>
                    <a:pt x="39424" y="627892"/>
                  </a:lnTo>
                  <a:cubicBezTo>
                    <a:pt x="28968" y="627892"/>
                    <a:pt x="18940" y="623738"/>
                    <a:pt x="11547" y="616345"/>
                  </a:cubicBezTo>
                  <a:cubicBezTo>
                    <a:pt x="4154" y="608952"/>
                    <a:pt x="0" y="598924"/>
                    <a:pt x="0" y="588468"/>
                  </a:cubicBezTo>
                  <a:lnTo>
                    <a:pt x="0" y="39424"/>
                  </a:lnTo>
                  <a:cubicBezTo>
                    <a:pt x="0" y="28968"/>
                    <a:pt x="4154" y="18940"/>
                    <a:pt x="11547" y="11547"/>
                  </a:cubicBezTo>
                  <a:cubicBezTo>
                    <a:pt x="18940" y="4154"/>
                    <a:pt x="28968" y="0"/>
                    <a:pt x="39424" y="0"/>
                  </a:cubicBezTo>
                  <a:lnTo>
                    <a:pt x="1023101" y="0"/>
                  </a:lnTo>
                  <a:cubicBezTo>
                    <a:pt x="1033556" y="0"/>
                    <a:pt x="1043584" y="4154"/>
                    <a:pt x="1050977" y="11547"/>
                  </a:cubicBezTo>
                  <a:cubicBezTo>
                    <a:pt x="1058371" y="18940"/>
                    <a:pt x="1062524" y="28968"/>
                    <a:pt x="1062524" y="39424"/>
                  </a:cubicBezTo>
                  <a:close/>
                </a:path>
              </a:pathLst>
            </a:custGeom>
            <a:solidFill>
              <a:srgbClr val="7ED957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76200"/>
              <a:ext cx="1062524" cy="704092"/>
            </a:xfrm>
            <a:prstGeom prst="rect">
              <a:avLst/>
            </a:prstGeom>
          </p:spPr>
          <p:txBody>
            <a:bodyPr anchor="ctr" rtlCol="false" tIns="55157" lIns="55157" bIns="55157" rIns="55157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000292" y="4407501"/>
            <a:ext cx="3927550" cy="2321188"/>
            <a:chOff x="0" y="0"/>
            <a:chExt cx="1062524" cy="62795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62524" cy="627954"/>
            </a:xfrm>
            <a:custGeom>
              <a:avLst/>
              <a:gdLst/>
              <a:ahLst/>
              <a:cxnLst/>
              <a:rect r="r" b="b" t="t" l="l"/>
              <a:pathLst>
                <a:path h="627954" w="1062524">
                  <a:moveTo>
                    <a:pt x="1062524" y="39424"/>
                  </a:moveTo>
                  <a:lnTo>
                    <a:pt x="1062524" y="588530"/>
                  </a:lnTo>
                  <a:cubicBezTo>
                    <a:pt x="1062524" y="598986"/>
                    <a:pt x="1058371" y="609013"/>
                    <a:pt x="1050977" y="616407"/>
                  </a:cubicBezTo>
                  <a:cubicBezTo>
                    <a:pt x="1043584" y="623800"/>
                    <a:pt x="1033556" y="627954"/>
                    <a:pt x="1023101" y="627954"/>
                  </a:cubicBezTo>
                  <a:lnTo>
                    <a:pt x="39424" y="627954"/>
                  </a:lnTo>
                  <a:cubicBezTo>
                    <a:pt x="28968" y="627954"/>
                    <a:pt x="18940" y="623800"/>
                    <a:pt x="11547" y="616407"/>
                  </a:cubicBezTo>
                  <a:cubicBezTo>
                    <a:pt x="4154" y="609013"/>
                    <a:pt x="0" y="598986"/>
                    <a:pt x="0" y="588530"/>
                  </a:cubicBezTo>
                  <a:lnTo>
                    <a:pt x="0" y="39424"/>
                  </a:lnTo>
                  <a:cubicBezTo>
                    <a:pt x="0" y="28968"/>
                    <a:pt x="4154" y="18940"/>
                    <a:pt x="11547" y="11547"/>
                  </a:cubicBezTo>
                  <a:cubicBezTo>
                    <a:pt x="18940" y="4154"/>
                    <a:pt x="28968" y="0"/>
                    <a:pt x="39424" y="0"/>
                  </a:cubicBezTo>
                  <a:lnTo>
                    <a:pt x="1023101" y="0"/>
                  </a:lnTo>
                  <a:cubicBezTo>
                    <a:pt x="1033556" y="0"/>
                    <a:pt x="1043584" y="4154"/>
                    <a:pt x="1050977" y="11547"/>
                  </a:cubicBezTo>
                  <a:cubicBezTo>
                    <a:pt x="1058371" y="18940"/>
                    <a:pt x="1062524" y="28968"/>
                    <a:pt x="1062524" y="39424"/>
                  </a:cubicBezTo>
                  <a:close/>
                </a:path>
              </a:pathLst>
            </a:custGeom>
            <a:solidFill>
              <a:srgbClr val="7ED957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76200"/>
              <a:ext cx="1062524" cy="704154"/>
            </a:xfrm>
            <a:prstGeom prst="rect">
              <a:avLst/>
            </a:prstGeom>
          </p:spPr>
          <p:txBody>
            <a:bodyPr anchor="ctr" rtlCol="false" tIns="55157" lIns="55157" bIns="55157" rIns="55157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244964" y="7068400"/>
            <a:ext cx="3927550" cy="2321188"/>
            <a:chOff x="0" y="0"/>
            <a:chExt cx="817126" cy="48292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7126" cy="482923"/>
            </a:xfrm>
            <a:custGeom>
              <a:avLst/>
              <a:gdLst/>
              <a:ahLst/>
              <a:cxnLst/>
              <a:rect r="r" b="b" t="t" l="l"/>
              <a:pathLst>
                <a:path h="482923" w="817126">
                  <a:moveTo>
                    <a:pt x="39424" y="0"/>
                  </a:moveTo>
                  <a:lnTo>
                    <a:pt x="777702" y="0"/>
                  </a:lnTo>
                  <a:cubicBezTo>
                    <a:pt x="788158" y="0"/>
                    <a:pt x="798186" y="4154"/>
                    <a:pt x="805579" y="11547"/>
                  </a:cubicBezTo>
                  <a:cubicBezTo>
                    <a:pt x="812972" y="18940"/>
                    <a:pt x="817126" y="28968"/>
                    <a:pt x="817126" y="39424"/>
                  </a:cubicBezTo>
                  <a:lnTo>
                    <a:pt x="817126" y="443499"/>
                  </a:lnTo>
                  <a:cubicBezTo>
                    <a:pt x="817126" y="453955"/>
                    <a:pt x="812972" y="463982"/>
                    <a:pt x="805579" y="471376"/>
                  </a:cubicBezTo>
                  <a:cubicBezTo>
                    <a:pt x="798186" y="478769"/>
                    <a:pt x="788158" y="482923"/>
                    <a:pt x="777702" y="482923"/>
                  </a:cubicBezTo>
                  <a:lnTo>
                    <a:pt x="39424" y="482923"/>
                  </a:lnTo>
                  <a:cubicBezTo>
                    <a:pt x="28968" y="482923"/>
                    <a:pt x="18940" y="478769"/>
                    <a:pt x="11547" y="471376"/>
                  </a:cubicBezTo>
                  <a:cubicBezTo>
                    <a:pt x="4154" y="463982"/>
                    <a:pt x="0" y="453955"/>
                    <a:pt x="0" y="443499"/>
                  </a:cubicBezTo>
                  <a:lnTo>
                    <a:pt x="0" y="39424"/>
                  </a:lnTo>
                  <a:cubicBezTo>
                    <a:pt x="0" y="28968"/>
                    <a:pt x="4154" y="18940"/>
                    <a:pt x="11547" y="11547"/>
                  </a:cubicBezTo>
                  <a:cubicBezTo>
                    <a:pt x="18940" y="4154"/>
                    <a:pt x="28968" y="0"/>
                    <a:pt x="39424" y="0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080820" y="1897516"/>
            <a:ext cx="3927550" cy="2320960"/>
            <a:chOff x="0" y="0"/>
            <a:chExt cx="817126" cy="4828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7126" cy="482875"/>
            </a:xfrm>
            <a:custGeom>
              <a:avLst/>
              <a:gdLst/>
              <a:ahLst/>
              <a:cxnLst/>
              <a:rect r="r" b="b" t="t" l="l"/>
              <a:pathLst>
                <a:path h="482875" w="817126">
                  <a:moveTo>
                    <a:pt x="39424" y="0"/>
                  </a:moveTo>
                  <a:lnTo>
                    <a:pt x="777702" y="0"/>
                  </a:lnTo>
                  <a:cubicBezTo>
                    <a:pt x="788158" y="0"/>
                    <a:pt x="798186" y="4154"/>
                    <a:pt x="805579" y="11547"/>
                  </a:cubicBezTo>
                  <a:cubicBezTo>
                    <a:pt x="812972" y="18940"/>
                    <a:pt x="817126" y="28968"/>
                    <a:pt x="817126" y="39424"/>
                  </a:cubicBezTo>
                  <a:lnTo>
                    <a:pt x="817126" y="443452"/>
                  </a:lnTo>
                  <a:cubicBezTo>
                    <a:pt x="817126" y="453907"/>
                    <a:pt x="812972" y="463935"/>
                    <a:pt x="805579" y="471328"/>
                  </a:cubicBezTo>
                  <a:cubicBezTo>
                    <a:pt x="798186" y="478722"/>
                    <a:pt x="788158" y="482875"/>
                    <a:pt x="777702" y="482875"/>
                  </a:cubicBezTo>
                  <a:lnTo>
                    <a:pt x="39424" y="482875"/>
                  </a:lnTo>
                  <a:cubicBezTo>
                    <a:pt x="28968" y="482875"/>
                    <a:pt x="18940" y="478722"/>
                    <a:pt x="11547" y="471328"/>
                  </a:cubicBezTo>
                  <a:cubicBezTo>
                    <a:pt x="4154" y="463935"/>
                    <a:pt x="0" y="453907"/>
                    <a:pt x="0" y="443452"/>
                  </a:cubicBezTo>
                  <a:lnTo>
                    <a:pt x="0" y="39424"/>
                  </a:lnTo>
                  <a:cubicBezTo>
                    <a:pt x="0" y="28968"/>
                    <a:pt x="4154" y="18940"/>
                    <a:pt x="11547" y="11547"/>
                  </a:cubicBezTo>
                  <a:cubicBezTo>
                    <a:pt x="18940" y="4154"/>
                    <a:pt x="28968" y="0"/>
                    <a:pt x="39424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34610" r="0" b="-3461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080373" y="4508597"/>
            <a:ext cx="4048885" cy="2320960"/>
            <a:chOff x="0" y="0"/>
            <a:chExt cx="842370" cy="48287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42370" cy="482875"/>
            </a:xfrm>
            <a:custGeom>
              <a:avLst/>
              <a:gdLst/>
              <a:ahLst/>
              <a:cxnLst/>
              <a:rect r="r" b="b" t="t" l="l"/>
              <a:pathLst>
                <a:path h="482875" w="842370">
                  <a:moveTo>
                    <a:pt x="38242" y="0"/>
                  </a:moveTo>
                  <a:lnTo>
                    <a:pt x="804127" y="0"/>
                  </a:lnTo>
                  <a:cubicBezTo>
                    <a:pt x="825248" y="0"/>
                    <a:pt x="842370" y="17122"/>
                    <a:pt x="842370" y="38242"/>
                  </a:cubicBezTo>
                  <a:lnTo>
                    <a:pt x="842370" y="444633"/>
                  </a:lnTo>
                  <a:cubicBezTo>
                    <a:pt x="842370" y="465754"/>
                    <a:pt x="825248" y="482875"/>
                    <a:pt x="804127" y="482875"/>
                  </a:cubicBezTo>
                  <a:lnTo>
                    <a:pt x="38242" y="482875"/>
                  </a:lnTo>
                  <a:cubicBezTo>
                    <a:pt x="17122" y="482875"/>
                    <a:pt x="0" y="465754"/>
                    <a:pt x="0" y="444633"/>
                  </a:cubicBezTo>
                  <a:lnTo>
                    <a:pt x="0" y="38242"/>
                  </a:lnTo>
                  <a:cubicBezTo>
                    <a:pt x="0" y="17122"/>
                    <a:pt x="17122" y="0"/>
                    <a:pt x="38242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8004" r="0" b="-8004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939625" y="7094152"/>
            <a:ext cx="4048885" cy="2320960"/>
            <a:chOff x="0" y="0"/>
            <a:chExt cx="842370" cy="48287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42370" cy="482875"/>
            </a:xfrm>
            <a:custGeom>
              <a:avLst/>
              <a:gdLst/>
              <a:ahLst/>
              <a:cxnLst/>
              <a:rect r="r" b="b" t="t" l="l"/>
              <a:pathLst>
                <a:path h="482875" w="842370">
                  <a:moveTo>
                    <a:pt x="38242" y="0"/>
                  </a:moveTo>
                  <a:lnTo>
                    <a:pt x="804127" y="0"/>
                  </a:lnTo>
                  <a:cubicBezTo>
                    <a:pt x="825248" y="0"/>
                    <a:pt x="842370" y="17122"/>
                    <a:pt x="842370" y="38242"/>
                  </a:cubicBezTo>
                  <a:lnTo>
                    <a:pt x="842370" y="444633"/>
                  </a:lnTo>
                  <a:cubicBezTo>
                    <a:pt x="842370" y="465754"/>
                    <a:pt x="825248" y="482875"/>
                    <a:pt x="804127" y="482875"/>
                  </a:cubicBezTo>
                  <a:lnTo>
                    <a:pt x="38242" y="482875"/>
                  </a:lnTo>
                  <a:cubicBezTo>
                    <a:pt x="17122" y="482875"/>
                    <a:pt x="0" y="465754"/>
                    <a:pt x="0" y="444633"/>
                  </a:cubicBezTo>
                  <a:lnTo>
                    <a:pt x="0" y="38242"/>
                  </a:lnTo>
                  <a:cubicBezTo>
                    <a:pt x="0" y="17122"/>
                    <a:pt x="17122" y="0"/>
                    <a:pt x="38242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8004" r="0" b="-8004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99733" y="1904509"/>
            <a:ext cx="9611932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            A critical user </a:t>
            </a:r>
            <a:r>
              <a:rPr lang="en-US" sz="4399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on a shared feeder can still lose power, and a non-critical user on a protected feeder keeps it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02895" y="4821645"/>
            <a:ext cx="869752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94542"/>
                </a:solidFill>
                <a:latin typeface="TS Arabic Bebas Neue Pro"/>
                <a:ea typeface="TS Arabic Bebas Neue Pro"/>
                <a:cs typeface="TS Arabic Bebas Neue Pro"/>
                <a:sym typeface="TS Arabic Bebas Neue Pro"/>
              </a:rPr>
              <a:t>Current workflow, step by step: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391098" y="5135970"/>
            <a:ext cx="3145938" cy="108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9"/>
              </a:lnSpc>
            </a:pPr>
            <a:r>
              <a:rPr lang="en-US" sz="3114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Priority is fixed and ma</a:t>
            </a:r>
            <a:r>
              <a:rPr lang="en-US" b="true" sz="311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nual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4541724" y="2374997"/>
            <a:ext cx="3334031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6"/>
              </a:lnSpc>
              <a:spcBef>
                <a:spcPct val="0"/>
              </a:spcBef>
            </a:pPr>
            <a:r>
              <a:rPr lang="en-US" b="true" sz="310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Shortages are handled by load shedding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410104" y="7540258"/>
            <a:ext cx="392755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8"/>
              </a:lnSpc>
              <a:spcBef>
                <a:spcPct val="0"/>
              </a:spcBef>
            </a:pPr>
            <a:r>
              <a:rPr lang="en-US" b="true" sz="314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Decisi</a:t>
            </a:r>
            <a:r>
              <a:rPr lang="en-US" b="true" sz="314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 is geographic, not need-based.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392555" y="1923559"/>
            <a:ext cx="685800" cy="593903"/>
            <a:chOff x="0" y="0"/>
            <a:chExt cx="914400" cy="791870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0" y="0"/>
              <a:ext cx="914400" cy="791870"/>
              <a:chOff x="0" y="0"/>
              <a:chExt cx="914400" cy="79187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914400" cy="791845"/>
              </a:xfrm>
              <a:custGeom>
                <a:avLst/>
                <a:gdLst/>
                <a:ahLst/>
                <a:cxnLst/>
                <a:rect r="r" b="b" t="t" l="l"/>
                <a:pathLst>
                  <a:path h="791845" w="914400">
                    <a:moveTo>
                      <a:pt x="0" y="395986"/>
                    </a:moveTo>
                    <a:lnTo>
                      <a:pt x="197993" y="0"/>
                    </a:lnTo>
                    <a:lnTo>
                      <a:pt x="716407" y="0"/>
                    </a:lnTo>
                    <a:lnTo>
                      <a:pt x="914400" y="395986"/>
                    </a:lnTo>
                    <a:lnTo>
                      <a:pt x="716407" y="791845"/>
                    </a:lnTo>
                    <a:lnTo>
                      <a:pt x="197993" y="791845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name="Group 70" id="70"/>
            <p:cNvGrpSpPr/>
            <p:nvPr/>
          </p:nvGrpSpPr>
          <p:grpSpPr>
            <a:xfrm rot="0">
              <a:off x="170180" y="184201"/>
              <a:ext cx="548640" cy="548640"/>
              <a:chOff x="0" y="0"/>
              <a:chExt cx="548640" cy="548640"/>
            </a:xfrm>
          </p:grpSpPr>
          <p:sp>
            <p:nvSpPr>
              <p:cNvPr name="Freeform 71" id="71" descr="Lightbulb icon"/>
              <p:cNvSpPr/>
              <p:nvPr/>
            </p:nvSpPr>
            <p:spPr>
              <a:xfrm flipH="false" flipV="false" rot="0">
                <a:off x="0" y="0"/>
                <a:ext cx="54864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0" r="0" b="0"/>
                </a:stretch>
              </a:blipFill>
            </p:spPr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720604" y="-327363"/>
            <a:ext cx="11247120" cy="2712126"/>
            <a:chOff x="0" y="0"/>
            <a:chExt cx="14996160" cy="36161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96161" cy="3616168"/>
            </a:xfrm>
            <a:custGeom>
              <a:avLst/>
              <a:gdLst/>
              <a:ahLst/>
              <a:cxnLst/>
              <a:rect r="r" b="b" t="t" l="l"/>
              <a:pathLst>
                <a:path h="3616168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3616168"/>
                  </a:lnTo>
                  <a:lnTo>
                    <a:pt x="0" y="3616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046" r="0" b="-35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4996160" cy="3635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CHALLENGES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0" id="20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255264" cy="1389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BUGLORDS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0392" y="1874801"/>
            <a:ext cx="16608495" cy="754380"/>
            <a:chOff x="0" y="0"/>
            <a:chExt cx="2214466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14465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144659">
                  <a:moveTo>
                    <a:pt x="0" y="0"/>
                  </a:moveTo>
                  <a:lnTo>
                    <a:pt x="22144659" y="0"/>
                  </a:lnTo>
                  <a:lnTo>
                    <a:pt x="2214465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1987" r="13286" b="-32198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214466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79"/>
                </a:lnSpc>
              </a:pPr>
              <a:r>
                <a:rPr lang="en-US" sz="3899" b="true">
                  <a:solidFill>
                    <a:srgbClr val="094542"/>
                  </a:solidFill>
                  <a:latin typeface="Bebas Neue Bold"/>
                  <a:ea typeface="Bebas Neue Bold"/>
                  <a:cs typeface="Bebas Neue Bold"/>
                  <a:sym typeface="Bebas Neue Bold"/>
                </a:rPr>
                <a:t>Blind cuts put critical services at risk and erodeS THE public trust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2588262"/>
            <a:ext cx="5264287" cy="4064177"/>
            <a:chOff x="0" y="0"/>
            <a:chExt cx="7019049" cy="54189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19163" cy="5419017"/>
            </a:xfrm>
            <a:custGeom>
              <a:avLst/>
              <a:gdLst/>
              <a:ahLst/>
              <a:cxnLst/>
              <a:rect r="r" b="b" t="t" l="l"/>
              <a:pathLst>
                <a:path h="5419017" w="7019163">
                  <a:moveTo>
                    <a:pt x="0" y="433566"/>
                  </a:moveTo>
                  <a:cubicBezTo>
                    <a:pt x="0" y="194144"/>
                    <a:pt x="215646" y="0"/>
                    <a:pt x="481584" y="0"/>
                  </a:cubicBezTo>
                  <a:lnTo>
                    <a:pt x="6537579" y="0"/>
                  </a:lnTo>
                  <a:cubicBezTo>
                    <a:pt x="6803517" y="0"/>
                    <a:pt x="7019163" y="194144"/>
                    <a:pt x="7019163" y="433566"/>
                  </a:cubicBezTo>
                  <a:lnTo>
                    <a:pt x="7019163" y="4985439"/>
                  </a:lnTo>
                  <a:cubicBezTo>
                    <a:pt x="7019163" y="5224861"/>
                    <a:pt x="6803517" y="5419017"/>
                    <a:pt x="6537579" y="5419017"/>
                  </a:cubicBezTo>
                  <a:lnTo>
                    <a:pt x="481584" y="5419017"/>
                  </a:lnTo>
                  <a:cubicBezTo>
                    <a:pt x="215646" y="5418891"/>
                    <a:pt x="0" y="5224861"/>
                    <a:pt x="0" y="4985439"/>
                  </a:cubicBezTo>
                  <a:close/>
                </a:path>
              </a:pathLst>
            </a:custGeom>
            <a:solidFill>
              <a:srgbClr val="007B80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7019049" cy="542842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Main difficulties</a:t>
              </a:r>
            </a:p>
            <a:p>
              <a:pPr algn="ctr">
                <a:lnSpc>
                  <a:spcPts val="3600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Blanket cuts ignore how critical each load is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Demand is uncertain, so decisions come late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The same areas are cut again and again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672496" y="2629181"/>
            <a:ext cx="5264287" cy="4023258"/>
            <a:chOff x="0" y="0"/>
            <a:chExt cx="7019049" cy="536434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19163" cy="5364458"/>
            </a:xfrm>
            <a:custGeom>
              <a:avLst/>
              <a:gdLst/>
              <a:ahLst/>
              <a:cxnLst/>
              <a:rect r="r" b="b" t="t" l="l"/>
              <a:pathLst>
                <a:path h="5364458" w="7019163">
                  <a:moveTo>
                    <a:pt x="0" y="429201"/>
                  </a:moveTo>
                  <a:cubicBezTo>
                    <a:pt x="0" y="192190"/>
                    <a:pt x="215646" y="0"/>
                    <a:pt x="481584" y="0"/>
                  </a:cubicBezTo>
                  <a:lnTo>
                    <a:pt x="6537579" y="0"/>
                  </a:lnTo>
                  <a:cubicBezTo>
                    <a:pt x="6803517" y="0"/>
                    <a:pt x="7019163" y="192190"/>
                    <a:pt x="7019163" y="429201"/>
                  </a:cubicBezTo>
                  <a:lnTo>
                    <a:pt x="7019163" y="4935244"/>
                  </a:lnTo>
                  <a:cubicBezTo>
                    <a:pt x="7019163" y="5172256"/>
                    <a:pt x="6803517" y="5364458"/>
                    <a:pt x="6537579" y="5364458"/>
                  </a:cubicBezTo>
                  <a:lnTo>
                    <a:pt x="481584" y="5364458"/>
                  </a:lnTo>
                  <a:cubicBezTo>
                    <a:pt x="215646" y="5364332"/>
                    <a:pt x="0" y="5172256"/>
                    <a:pt x="0" y="4935244"/>
                  </a:cubicBezTo>
                  <a:close/>
                </a:path>
              </a:pathLst>
            </a:custGeom>
            <a:solidFill>
              <a:srgbClr val="009D81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7019049" cy="5373868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Root causes</a:t>
              </a:r>
            </a:p>
            <a:p>
              <a:pPr algn="ctr">
                <a:lnSpc>
                  <a:spcPts val="3600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Planning is reactive, not predictive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No tier-wise view of demand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Priority rules are not enforced by software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505965" y="2629181"/>
            <a:ext cx="5264287" cy="3997485"/>
            <a:chOff x="0" y="0"/>
            <a:chExt cx="7019049" cy="53299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19163" cy="5330094"/>
            </a:xfrm>
            <a:custGeom>
              <a:avLst/>
              <a:gdLst/>
              <a:ahLst/>
              <a:cxnLst/>
              <a:rect r="r" b="b" t="t" l="l"/>
              <a:pathLst>
                <a:path h="5330094" w="7019163">
                  <a:moveTo>
                    <a:pt x="0" y="426451"/>
                  </a:moveTo>
                  <a:cubicBezTo>
                    <a:pt x="0" y="190958"/>
                    <a:pt x="215646" y="0"/>
                    <a:pt x="481584" y="0"/>
                  </a:cubicBezTo>
                  <a:lnTo>
                    <a:pt x="6537579" y="0"/>
                  </a:lnTo>
                  <a:cubicBezTo>
                    <a:pt x="6803517" y="0"/>
                    <a:pt x="7019163" y="190958"/>
                    <a:pt x="7019163" y="426451"/>
                  </a:cubicBezTo>
                  <a:lnTo>
                    <a:pt x="7019163" y="4903630"/>
                  </a:lnTo>
                  <a:cubicBezTo>
                    <a:pt x="7019163" y="5139123"/>
                    <a:pt x="6803517" y="5330094"/>
                    <a:pt x="6537579" y="5330094"/>
                  </a:cubicBezTo>
                  <a:lnTo>
                    <a:pt x="481584" y="5330094"/>
                  </a:lnTo>
                  <a:cubicBezTo>
                    <a:pt x="215646" y="5329969"/>
                    <a:pt x="0" y="5139123"/>
                    <a:pt x="0" y="4903630"/>
                  </a:cubicBezTo>
                  <a:close/>
                </a:path>
              </a:pathLst>
            </a:custGeom>
            <a:solidFill>
              <a:srgbClr val="0D6E29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7019049" cy="533950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If left unsolved</a:t>
              </a:r>
            </a:p>
            <a:p>
              <a:pPr algn="ctr">
                <a:lnSpc>
                  <a:spcPts val="3600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Risk to patients and essential services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Economic and industrial losses</a:t>
              </a:r>
            </a:p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Public frustration and loss of trust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5816" y="6789162"/>
            <a:ext cx="16956443" cy="2606735"/>
            <a:chOff x="0" y="0"/>
            <a:chExt cx="22608591" cy="3475647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747452"/>
              <a:ext cx="7019049" cy="2728195"/>
              <a:chOff x="0" y="0"/>
              <a:chExt cx="1386479" cy="53890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386479" cy="538903"/>
              </a:xfrm>
              <a:custGeom>
                <a:avLst/>
                <a:gdLst/>
                <a:ahLst/>
                <a:cxnLst/>
                <a:rect r="r" b="b" t="t" l="l"/>
                <a:pathLst>
                  <a:path h="538903" w="1386479">
                    <a:moveTo>
                      <a:pt x="75003" y="0"/>
                    </a:moveTo>
                    <a:lnTo>
                      <a:pt x="1311476" y="0"/>
                    </a:lnTo>
                    <a:cubicBezTo>
                      <a:pt x="1331368" y="0"/>
                      <a:pt x="1350445" y="7902"/>
                      <a:pt x="1364511" y="21968"/>
                    </a:cubicBezTo>
                    <a:cubicBezTo>
                      <a:pt x="1378577" y="36034"/>
                      <a:pt x="1386479" y="55111"/>
                      <a:pt x="1386479" y="75003"/>
                    </a:cubicBezTo>
                    <a:lnTo>
                      <a:pt x="1386479" y="463900"/>
                    </a:lnTo>
                    <a:cubicBezTo>
                      <a:pt x="1386479" y="483792"/>
                      <a:pt x="1378577" y="502869"/>
                      <a:pt x="1364511" y="516935"/>
                    </a:cubicBezTo>
                    <a:cubicBezTo>
                      <a:pt x="1350445" y="531001"/>
                      <a:pt x="1331368" y="538903"/>
                      <a:pt x="1311476" y="538903"/>
                    </a:cubicBezTo>
                    <a:lnTo>
                      <a:pt x="75003" y="538903"/>
                    </a:lnTo>
                    <a:cubicBezTo>
                      <a:pt x="33580" y="538903"/>
                      <a:pt x="0" y="505323"/>
                      <a:pt x="0" y="463900"/>
                    </a:cubicBezTo>
                    <a:lnTo>
                      <a:pt x="0" y="75003"/>
                    </a:lnTo>
                    <a:cubicBezTo>
                      <a:pt x="0" y="55111"/>
                      <a:pt x="7902" y="36034"/>
                      <a:pt x="21968" y="21968"/>
                    </a:cubicBezTo>
                    <a:cubicBezTo>
                      <a:pt x="36034" y="7902"/>
                      <a:pt x="55111" y="0"/>
                      <a:pt x="7500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89D957">
                      <a:alpha val="100000"/>
                    </a:srgbClr>
                  </a:gs>
                  <a:gs pos="100000">
                    <a:srgbClr val="C9E265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0"/>
                <a:ext cx="1386479" cy="5389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  <a:r>
                  <a:rPr lang="en-US" b="true" sz="2449">
                    <a:solidFill>
                      <a:srgbClr val="0D6E29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Prioritizing Important Areas Instead of giving the current supply to all areas alternatively</a:t>
                </a: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0" y="-19050"/>
              <a:ext cx="22608591" cy="819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4"/>
                </a:lnSpc>
                <a:spcBef>
                  <a:spcPct val="0"/>
                </a:spcBef>
              </a:pPr>
              <a:r>
                <a:rPr lang="en-US" b="true" sz="3961">
                  <a:solidFill>
                    <a:srgbClr val="000000"/>
                  </a:solidFill>
                  <a:latin typeface="Bebas Neue Bold"/>
                  <a:ea typeface="Bebas Neue Bold"/>
                  <a:cs typeface="Bebas Neue Bold"/>
                  <a:sym typeface="Bebas Neue Bold"/>
                </a:rPr>
                <a:t>OUR SOLUTION AND KEY FEATURES WE PROVIDE TO SOLVE THE CHALLEngeS :</a:t>
              </a:r>
            </a:p>
          </p:txBody>
        </p:sp>
        <p:grpSp>
          <p:nvGrpSpPr>
            <p:cNvPr name="Group 43" id="43"/>
            <p:cNvGrpSpPr/>
            <p:nvPr/>
          </p:nvGrpSpPr>
          <p:grpSpPr>
            <a:xfrm rot="0">
              <a:off x="7520883" y="747452"/>
              <a:ext cx="7019049" cy="2728195"/>
              <a:chOff x="0" y="0"/>
              <a:chExt cx="1386479" cy="538903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386479" cy="538903"/>
              </a:xfrm>
              <a:custGeom>
                <a:avLst/>
                <a:gdLst/>
                <a:ahLst/>
                <a:cxnLst/>
                <a:rect r="r" b="b" t="t" l="l"/>
                <a:pathLst>
                  <a:path h="538903" w="1386479">
                    <a:moveTo>
                      <a:pt x="75003" y="0"/>
                    </a:moveTo>
                    <a:lnTo>
                      <a:pt x="1311476" y="0"/>
                    </a:lnTo>
                    <a:cubicBezTo>
                      <a:pt x="1331368" y="0"/>
                      <a:pt x="1350445" y="7902"/>
                      <a:pt x="1364511" y="21968"/>
                    </a:cubicBezTo>
                    <a:cubicBezTo>
                      <a:pt x="1378577" y="36034"/>
                      <a:pt x="1386479" y="55111"/>
                      <a:pt x="1386479" y="75003"/>
                    </a:cubicBezTo>
                    <a:lnTo>
                      <a:pt x="1386479" y="463900"/>
                    </a:lnTo>
                    <a:cubicBezTo>
                      <a:pt x="1386479" y="483792"/>
                      <a:pt x="1378577" y="502869"/>
                      <a:pt x="1364511" y="516935"/>
                    </a:cubicBezTo>
                    <a:cubicBezTo>
                      <a:pt x="1350445" y="531001"/>
                      <a:pt x="1331368" y="538903"/>
                      <a:pt x="1311476" y="538903"/>
                    </a:cubicBezTo>
                    <a:lnTo>
                      <a:pt x="75003" y="538903"/>
                    </a:lnTo>
                    <a:cubicBezTo>
                      <a:pt x="33580" y="538903"/>
                      <a:pt x="0" y="505323"/>
                      <a:pt x="0" y="463900"/>
                    </a:cubicBezTo>
                    <a:lnTo>
                      <a:pt x="0" y="75003"/>
                    </a:lnTo>
                    <a:cubicBezTo>
                      <a:pt x="0" y="55111"/>
                      <a:pt x="7902" y="36034"/>
                      <a:pt x="21968" y="21968"/>
                    </a:cubicBezTo>
                    <a:cubicBezTo>
                      <a:pt x="36034" y="7902"/>
                      <a:pt x="55111" y="0"/>
                      <a:pt x="7500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89D957">
                      <a:alpha val="100000"/>
                    </a:srgbClr>
                  </a:gs>
                  <a:gs pos="100000">
                    <a:srgbClr val="C9E265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0"/>
                <a:ext cx="1386479" cy="5389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  <a:r>
                  <a:rPr lang="en-US" b="true" sz="2449">
                    <a:solidFill>
                      <a:srgbClr val="0D6E29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Anomaly detection &amp; Fault prediction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14930266" y="747452"/>
              <a:ext cx="7019049" cy="2728195"/>
              <a:chOff x="0" y="0"/>
              <a:chExt cx="1386479" cy="538903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386479" cy="538903"/>
              </a:xfrm>
              <a:custGeom>
                <a:avLst/>
                <a:gdLst/>
                <a:ahLst/>
                <a:cxnLst/>
                <a:rect r="r" b="b" t="t" l="l"/>
                <a:pathLst>
                  <a:path h="538903" w="1386479">
                    <a:moveTo>
                      <a:pt x="75003" y="0"/>
                    </a:moveTo>
                    <a:lnTo>
                      <a:pt x="1311476" y="0"/>
                    </a:lnTo>
                    <a:cubicBezTo>
                      <a:pt x="1331368" y="0"/>
                      <a:pt x="1350445" y="7902"/>
                      <a:pt x="1364511" y="21968"/>
                    </a:cubicBezTo>
                    <a:cubicBezTo>
                      <a:pt x="1378577" y="36034"/>
                      <a:pt x="1386479" y="55111"/>
                      <a:pt x="1386479" y="75003"/>
                    </a:cubicBezTo>
                    <a:lnTo>
                      <a:pt x="1386479" y="463900"/>
                    </a:lnTo>
                    <a:cubicBezTo>
                      <a:pt x="1386479" y="483792"/>
                      <a:pt x="1378577" y="502869"/>
                      <a:pt x="1364511" y="516935"/>
                    </a:cubicBezTo>
                    <a:cubicBezTo>
                      <a:pt x="1350445" y="531001"/>
                      <a:pt x="1331368" y="538903"/>
                      <a:pt x="1311476" y="538903"/>
                    </a:cubicBezTo>
                    <a:lnTo>
                      <a:pt x="75003" y="538903"/>
                    </a:lnTo>
                    <a:cubicBezTo>
                      <a:pt x="33580" y="538903"/>
                      <a:pt x="0" y="505323"/>
                      <a:pt x="0" y="463900"/>
                    </a:cubicBezTo>
                    <a:lnTo>
                      <a:pt x="0" y="75003"/>
                    </a:lnTo>
                    <a:cubicBezTo>
                      <a:pt x="0" y="55111"/>
                      <a:pt x="7902" y="36034"/>
                      <a:pt x="21968" y="21968"/>
                    </a:cubicBezTo>
                    <a:cubicBezTo>
                      <a:pt x="36034" y="7902"/>
                      <a:pt x="55111" y="0"/>
                      <a:pt x="7500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89D957">
                      <a:alpha val="100000"/>
                    </a:srgbClr>
                  </a:gs>
                  <a:gs pos="100000">
                    <a:srgbClr val="C9E265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0"/>
                <a:ext cx="1386479" cy="5389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  <a:r>
                  <a:rPr lang="en-US" b="true" sz="2449">
                    <a:solidFill>
                      <a:srgbClr val="0D6E29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Real-time forecast correction</a:t>
                </a:r>
              </a:p>
            </p:txBody>
          </p:sp>
        </p:grpSp>
      </p:grpSp>
      <p:grpSp>
        <p:nvGrpSpPr>
          <p:cNvPr name="Group 49" id="49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914400" cy="79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5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12312" y="1874801"/>
            <a:ext cx="685800" cy="593903"/>
            <a:chOff x="0" y="0"/>
            <a:chExt cx="914400" cy="791870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914400" cy="791870"/>
              <a:chOff x="0" y="0"/>
              <a:chExt cx="914400" cy="79187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914400" cy="791845"/>
              </a:xfrm>
              <a:custGeom>
                <a:avLst/>
                <a:gdLst/>
                <a:ahLst/>
                <a:cxnLst/>
                <a:rect r="r" b="b" t="t" l="l"/>
                <a:pathLst>
                  <a:path h="791845" w="914400">
                    <a:moveTo>
                      <a:pt x="0" y="395986"/>
                    </a:moveTo>
                    <a:lnTo>
                      <a:pt x="197993" y="0"/>
                    </a:lnTo>
                    <a:lnTo>
                      <a:pt x="716407" y="0"/>
                    </a:lnTo>
                    <a:lnTo>
                      <a:pt x="914400" y="395986"/>
                    </a:lnTo>
                    <a:lnTo>
                      <a:pt x="716407" y="791845"/>
                    </a:lnTo>
                    <a:lnTo>
                      <a:pt x="197993" y="791845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170180" y="184201"/>
              <a:ext cx="548640" cy="548640"/>
              <a:chOff x="0" y="0"/>
              <a:chExt cx="548640" cy="548640"/>
            </a:xfrm>
          </p:grpSpPr>
          <p:sp>
            <p:nvSpPr>
              <p:cNvPr name="Freeform 58" id="58" descr="Lightbulb icon"/>
              <p:cNvSpPr/>
              <p:nvPr/>
            </p:nvSpPr>
            <p:spPr>
              <a:xfrm flipH="false" flipV="false" rot="0">
                <a:off x="0" y="0"/>
                <a:ext cx="548640" cy="548640"/>
              </a:xfrm>
              <a:custGeom>
                <a:avLst/>
                <a:gdLst/>
                <a:ahLst/>
                <a:cxnLst/>
                <a:rect r="r" b="b" t="t" l="l"/>
                <a:pathLst>
                  <a:path h="548640" w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0" t="0" r="0" b="0"/>
                </a:stretch>
              </a:blipFill>
            </p:spPr>
          </p:sp>
        </p:grpSp>
      </p:grpSp>
      <p:grpSp>
        <p:nvGrpSpPr>
          <p:cNvPr name="Group 59" id="59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523939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Genesis Ideathon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523939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Genesis Ideathon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EXISTING SOLUTIONS / APPROACHES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255264" cy="1389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BUGLORDS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92024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Existing approaches help a little, but none forecasts and prioritises together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914400" cy="79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6</a:t>
              </a:r>
            </a:p>
          </p:txBody>
        </p:sp>
      </p:grpSp>
      <p:graphicFrame>
        <p:nvGraphicFramePr>
          <p:cNvPr name="Table 41" id="41"/>
          <p:cNvGraphicFramePr>
            <a:graphicFrameLocks noGrp="true"/>
          </p:cNvGraphicFramePr>
          <p:nvPr/>
        </p:nvGraphicFramePr>
        <p:xfrm>
          <a:off x="1498607" y="2985621"/>
          <a:ext cx="15085313" cy="4291012"/>
        </p:xfrm>
        <a:graphic>
          <a:graphicData uri="http://schemas.openxmlformats.org/drawingml/2006/table">
            <a:tbl>
              <a:tblPr/>
              <a:tblGrid>
                <a:gridCol w="5224670"/>
                <a:gridCol w="9860643"/>
              </a:tblGrid>
              <a:tr h="7375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6"/>
                        </a:lnSpc>
                        <a:defRPr/>
                      </a:pPr>
                      <a:r>
                        <a:rPr lang="en-US" sz="208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Existing approach</a:t>
                      </a:r>
                      <a:endParaRPr lang="en-US" sz="1100"/>
                    </a:p>
                  </a:txBody>
                  <a:tcPr marL="160225" marR="160225" marT="160225" marB="160225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6"/>
                        </a:lnSpc>
                        <a:defRPr/>
                      </a:pPr>
                      <a:r>
                        <a:rPr lang="en-US" sz="208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Where it fails</a:t>
                      </a:r>
                      <a:endParaRPr lang="en-US" sz="1100"/>
                    </a:p>
                  </a:txBody>
                  <a:tcPr marL="160225" marR="160225" marT="160225" marB="160225" anchor="ctr">
                    <a:lnL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</a:tr>
              <a:tr h="10440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6"/>
                        </a:lnSpc>
                        <a:defRPr/>
                      </a:pPr>
                      <a:r>
                        <a:rPr lang="en-US" sz="208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Rotational / scheduled load shedding</a:t>
                      </a:r>
                      <a:endParaRPr lang="en-US" sz="1100"/>
                    </a:p>
                  </a:txBody>
                  <a:tcPr marL="160225" marR="160225" marT="160225" marB="1602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6"/>
                        </a:lnSpc>
                        <a:defRPr/>
                      </a:pPr>
                      <a:r>
                        <a:rPr lang="en-US" sz="208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Fixed schedules are ignoring real demands, and how critical each consumer is</a:t>
                      </a:r>
                      <a:endParaRPr lang="en-US" sz="1100"/>
                    </a:p>
                  </a:txBody>
                  <a:tcPr marL="160225" marR="160225" marT="160225" marB="160225" anchor="ctr">
                    <a:lnL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79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6"/>
                        </a:lnSpc>
                        <a:defRPr/>
                      </a:pPr>
                      <a:r>
                        <a:rPr lang="en-US" sz="208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Dedicated priority feeders</a:t>
                      </a:r>
                      <a:endParaRPr lang="en-US" sz="1100"/>
                    </a:p>
                  </a:txBody>
                  <a:tcPr marL="160225" marR="160225" marT="160225" marB="1602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6"/>
                        </a:lnSpc>
                        <a:defRPr/>
                      </a:pPr>
                      <a:r>
                        <a:rPr lang="en-US" sz="208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Static and limited to a few consumers; costly to extend; not adaptive</a:t>
                      </a:r>
                      <a:endParaRPr lang="en-US" sz="1100"/>
                    </a:p>
                  </a:txBody>
                  <a:tcPr marL="160225" marR="160225" marT="160225" marB="160225" anchor="ctr">
                    <a:lnL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79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6"/>
                        </a:lnSpc>
                        <a:defRPr/>
                      </a:pPr>
                      <a:r>
                        <a:rPr lang="en-US" sz="208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Diesel generators and UPS backup</a:t>
                      </a:r>
                      <a:endParaRPr lang="en-US" sz="1100"/>
                    </a:p>
                  </a:txBody>
                  <a:tcPr marL="160225" marR="160225" marT="160225" marB="1602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6"/>
                        </a:lnSpc>
                        <a:defRPr/>
                      </a:pPr>
                      <a:r>
                        <a:rPr lang="en-US" sz="208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Expensive, polluting, limited duration; only for those who can afford it</a:t>
                      </a:r>
                      <a:endParaRPr lang="en-US" sz="1100"/>
                    </a:p>
                  </a:txBody>
                  <a:tcPr marL="160225" marR="160225" marT="160225" marB="160225" anchor="ctr">
                    <a:lnL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35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6"/>
                        </a:lnSpc>
                        <a:defRPr/>
                      </a:pPr>
                      <a:r>
                        <a:rPr lang="en-US" sz="208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Peak-demand pricing programs</a:t>
                      </a:r>
                      <a:r>
                        <a:rPr lang="en-US" sz="2080">
                          <a:solidFill>
                            <a:srgbClr val="0E2A2F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</a:t>
                      </a:r>
                      <a:endParaRPr lang="en-US" sz="1100"/>
                    </a:p>
                  </a:txBody>
                  <a:tcPr marL="160225" marR="160225" marT="160225" marB="160225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96"/>
                        </a:lnSpc>
                        <a:defRPr/>
                      </a:pPr>
                      <a:r>
                        <a:rPr lang="en-US" sz="208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N</a:t>
                      </a:r>
                      <a:r>
                        <a:rPr lang="en-US" sz="208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o guarantee of reduction of power at the critical moment like peak hours</a:t>
                      </a:r>
                      <a:endParaRPr lang="en-US" sz="1100"/>
                    </a:p>
                  </a:txBody>
                  <a:tcPr marL="160225" marR="160225" marT="160225" marB="160225" anchor="ctr">
                    <a:lnL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42" id="42"/>
          <p:cNvGrpSpPr/>
          <p:nvPr/>
        </p:nvGrpSpPr>
        <p:grpSpPr>
          <a:xfrm rot="0">
            <a:off x="960120" y="7528660"/>
            <a:ext cx="16400040" cy="1214288"/>
            <a:chOff x="0" y="0"/>
            <a:chExt cx="21866720" cy="16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866732" cy="1619126"/>
            </a:xfrm>
            <a:custGeom>
              <a:avLst/>
              <a:gdLst/>
              <a:ahLst/>
              <a:cxnLst/>
              <a:rect r="r" b="b" t="t" l="l"/>
              <a:pathLst>
                <a:path h="1619126" w="21866732">
                  <a:moveTo>
                    <a:pt x="0" y="129540"/>
                  </a:moveTo>
                  <a:cubicBezTo>
                    <a:pt x="0" y="58039"/>
                    <a:pt x="59252" y="0"/>
                    <a:pt x="132247" y="0"/>
                  </a:cubicBezTo>
                  <a:lnTo>
                    <a:pt x="21734486" y="0"/>
                  </a:lnTo>
                  <a:cubicBezTo>
                    <a:pt x="21807481" y="0"/>
                    <a:pt x="21866732" y="58039"/>
                    <a:pt x="21866732" y="129540"/>
                  </a:cubicBezTo>
                  <a:lnTo>
                    <a:pt x="21866732" y="1489586"/>
                  </a:lnTo>
                  <a:cubicBezTo>
                    <a:pt x="21866732" y="1561087"/>
                    <a:pt x="21807481" y="1619126"/>
                    <a:pt x="21734486" y="1619126"/>
                  </a:cubicBezTo>
                  <a:lnTo>
                    <a:pt x="132247" y="1619126"/>
                  </a:lnTo>
                  <a:cubicBezTo>
                    <a:pt x="59252" y="1619126"/>
                    <a:pt x="0" y="1561087"/>
                    <a:pt x="0" y="1489586"/>
                  </a:cubicBezTo>
                  <a:close/>
                </a:path>
              </a:pathLst>
            </a:custGeom>
            <a:solidFill>
              <a:srgbClr val="F3F8F5"/>
            </a:solidFill>
            <a:ln w="38100" cap="sq">
              <a:solidFill>
                <a:srgbClr val="7AC143"/>
              </a:solidFill>
              <a:prstDash val="sysDot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21866720" cy="162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439"/>
                </a:lnSpc>
              </a:pPr>
              <a:r>
                <a:rPr lang="en-US" sz="3699">
                  <a:solidFill>
                    <a:srgbClr val="026855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The gap: </a:t>
              </a:r>
              <a:r>
                <a:rPr lang="en-US" sz="3699">
                  <a:solidFill>
                    <a:srgbClr val="0E2A2F"/>
                  </a:solidFill>
                  <a:latin typeface="Bebas Neue Cyrillic"/>
                  <a:ea typeface="Bebas Neue Cyrillic"/>
                  <a:cs typeface="Bebas Neue Cyrillic"/>
                  <a:sym typeface="Bebas Neue Cyrillic"/>
                </a:rPr>
                <a:t>no system combines demand forecasting, tiered priority bands and fair rotation in real time.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523939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Genesis Ideathon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INSIGHTS &amp; OPPORTUNITY AREAS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255264" cy="1389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BUGLORDS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92024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Resources required to solve the problem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914400" cy="79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7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28700" y="3356610"/>
            <a:ext cx="7640239" cy="2365655"/>
            <a:chOff x="0" y="0"/>
            <a:chExt cx="10186985" cy="315420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186967" cy="3154177"/>
            </a:xfrm>
            <a:custGeom>
              <a:avLst/>
              <a:gdLst/>
              <a:ahLst/>
              <a:cxnLst/>
              <a:rect r="r" b="b" t="t" l="l"/>
              <a:pathLst>
                <a:path h="3154177" w="10186967">
                  <a:moveTo>
                    <a:pt x="0" y="252307"/>
                  </a:moveTo>
                  <a:cubicBezTo>
                    <a:pt x="0" y="112991"/>
                    <a:pt x="344124" y="0"/>
                    <a:pt x="768428" y="0"/>
                  </a:cubicBezTo>
                  <a:lnTo>
                    <a:pt x="9418539" y="0"/>
                  </a:lnTo>
                  <a:cubicBezTo>
                    <a:pt x="9843027" y="0"/>
                    <a:pt x="10186967" y="112991"/>
                    <a:pt x="10186967" y="252307"/>
                  </a:cubicBezTo>
                  <a:lnTo>
                    <a:pt x="10186967" y="2901869"/>
                  </a:lnTo>
                  <a:cubicBezTo>
                    <a:pt x="10186967" y="3041246"/>
                    <a:pt x="9842843" y="3154177"/>
                    <a:pt x="9418539" y="3154177"/>
                  </a:cubicBezTo>
                  <a:lnTo>
                    <a:pt x="768428" y="3154177"/>
                  </a:lnTo>
                  <a:cubicBezTo>
                    <a:pt x="344124" y="3154270"/>
                    <a:pt x="0" y="3041246"/>
                    <a:pt x="0" y="2901869"/>
                  </a:cubicBezTo>
                  <a:close/>
                </a:path>
              </a:pathLst>
            </a:custGeom>
            <a:solidFill>
              <a:srgbClr val="007B80"/>
            </a:solidFill>
            <a:ln w="14288" cap="sq">
              <a:solidFill>
                <a:srgbClr val="D3E6DD"/>
              </a:solidFill>
              <a:prstDash val="sysDot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0186985" cy="3163732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Hardware</a:t>
              </a:r>
            </a:p>
            <a:p>
              <a:pPr algn="l" marL="407194" indent="-203597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IoT smart meters, current and voltage sensors (ESP32-class)</a:t>
              </a:r>
            </a:p>
            <a:p>
              <a:pPr algn="l" marL="407194" indent="-203597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Edge gateways</a:t>
              </a:r>
            </a:p>
            <a:p>
              <a:pPr algn="l" marL="407194" indent="-203597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Smart switches / relays for remote control</a:t>
              </a:r>
            </a:p>
            <a:p>
              <a:pPr algn="l" marL="407194" indent="-203597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LoRa, NB-IoT or GSM modules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8700" y="5956036"/>
            <a:ext cx="15859811" cy="3409654"/>
            <a:chOff x="0" y="0"/>
            <a:chExt cx="21246140" cy="45676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246102" cy="4567601"/>
            </a:xfrm>
            <a:custGeom>
              <a:avLst/>
              <a:gdLst/>
              <a:ahLst/>
              <a:cxnLst/>
              <a:rect r="r" b="b" t="t" l="l"/>
              <a:pathLst>
                <a:path h="4567601" w="21246102">
                  <a:moveTo>
                    <a:pt x="0" y="365370"/>
                  </a:moveTo>
                  <a:cubicBezTo>
                    <a:pt x="0" y="163623"/>
                    <a:pt x="717711" y="0"/>
                    <a:pt x="1602645" y="0"/>
                  </a:cubicBezTo>
                  <a:lnTo>
                    <a:pt x="19643455" y="0"/>
                  </a:lnTo>
                  <a:cubicBezTo>
                    <a:pt x="20528775" y="0"/>
                    <a:pt x="21246102" y="163623"/>
                    <a:pt x="21246102" y="365370"/>
                  </a:cubicBezTo>
                  <a:lnTo>
                    <a:pt x="21246102" y="4202231"/>
                  </a:lnTo>
                  <a:cubicBezTo>
                    <a:pt x="21246102" y="4404065"/>
                    <a:pt x="20528390" y="4567601"/>
                    <a:pt x="19643455" y="4567601"/>
                  </a:cubicBezTo>
                  <a:lnTo>
                    <a:pt x="1602645" y="4567601"/>
                  </a:lnTo>
                  <a:cubicBezTo>
                    <a:pt x="717711" y="4567708"/>
                    <a:pt x="0" y="4404065"/>
                    <a:pt x="0" y="4202231"/>
                  </a:cubicBezTo>
                  <a:close/>
                </a:path>
              </a:pathLst>
            </a:custGeom>
            <a:solidFill>
              <a:srgbClr val="009D81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1246140" cy="45771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Software</a:t>
              </a:r>
            </a:p>
            <a:p>
              <a:pPr algn="l" marL="485775" indent="-242888" lvl="1">
                <a:lnSpc>
                  <a:spcPts val="2700"/>
                </a:lnSpc>
                <a:buFont typeface="Arial"/>
                <a:buChar char="•"/>
              </a:pPr>
              <a:r>
                <a:rPr lang="en-US" b="true" sz="225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SQLite (prototype) to (PostgreSQL/InfluxDB (time-series)</a:t>
              </a:r>
            </a:p>
            <a:p>
              <a:pPr algn="l" marL="485775" indent="-242888" lvl="1">
                <a:lnSpc>
                  <a:spcPts val="2700"/>
                </a:lnSpc>
                <a:buFont typeface="Arial"/>
                <a:buChar char="•"/>
              </a:pPr>
              <a:r>
                <a:rPr lang="en-US" b="true" sz="225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MQTT protocol</a:t>
              </a:r>
            </a:p>
            <a:p>
              <a:pPr algn="l" marL="485775" indent="-242888" lvl="1">
                <a:lnSpc>
                  <a:spcPts val="2700"/>
                </a:lnSpc>
                <a:buFont typeface="Arial"/>
                <a:buChar char="•"/>
              </a:pPr>
              <a:r>
                <a:rPr lang="en-US" b="true" sz="225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Python, scikit-learn (Random Forest / Gradient Boosting); LSTM or Prophet for advanced versions</a:t>
              </a:r>
            </a:p>
            <a:p>
              <a:pPr algn="l" marL="485775" indent="-242888" lvl="1">
                <a:lnSpc>
                  <a:spcPts val="2700"/>
                </a:lnSpc>
                <a:buFont typeface="Arial"/>
                <a:buChar char="•"/>
              </a:pPr>
              <a:r>
                <a:rPr lang="en-US" b="true" sz="225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Python rule-based engine with tier minimums and maximums</a:t>
              </a:r>
            </a:p>
            <a:p>
              <a:pPr algn="l" marL="485775" indent="-242888" lvl="1">
                <a:lnSpc>
                  <a:spcPts val="2700"/>
                </a:lnSpc>
                <a:buFont typeface="Arial"/>
                <a:buChar char="•"/>
              </a:pPr>
              <a:r>
                <a:rPr lang="en-US" b="true" sz="225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Streamlit + Plotly</a:t>
              </a:r>
            </a:p>
            <a:p>
              <a:pPr algn="l" marL="485775" indent="-242888" lvl="1">
                <a:lnSpc>
                  <a:spcPts val="2700"/>
                </a:lnSpc>
                <a:buFont typeface="Arial"/>
                <a:buChar char="•"/>
              </a:pPr>
              <a:r>
                <a:rPr lang="en-US" b="true" sz="225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Pandas, NumPy</a:t>
              </a:r>
            </a:p>
            <a:p>
              <a:pPr algn="l" marL="485775" indent="-242888" lvl="1">
                <a:lnSpc>
                  <a:spcPts val="2700"/>
                </a:lnSpc>
                <a:buFont typeface="Arial"/>
                <a:buChar char="•"/>
              </a:pPr>
              <a:r>
                <a:rPr lang="en-US" b="true" sz="2250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GitHub, Streamlit Community Cloud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956548" y="3356610"/>
            <a:ext cx="7931963" cy="2314118"/>
            <a:chOff x="0" y="0"/>
            <a:chExt cx="10575950" cy="30854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575931" cy="3085461"/>
            </a:xfrm>
            <a:custGeom>
              <a:avLst/>
              <a:gdLst/>
              <a:ahLst/>
              <a:cxnLst/>
              <a:rect r="r" b="b" t="t" l="l"/>
              <a:pathLst>
                <a:path h="3085461" w="10575931">
                  <a:moveTo>
                    <a:pt x="0" y="246811"/>
                  </a:moveTo>
                  <a:cubicBezTo>
                    <a:pt x="0" y="110529"/>
                    <a:pt x="357264" y="0"/>
                    <a:pt x="797768" y="0"/>
                  </a:cubicBezTo>
                  <a:lnTo>
                    <a:pt x="9778163" y="0"/>
                  </a:lnTo>
                  <a:cubicBezTo>
                    <a:pt x="10218859" y="0"/>
                    <a:pt x="10575931" y="110529"/>
                    <a:pt x="10575931" y="246811"/>
                  </a:cubicBezTo>
                  <a:lnTo>
                    <a:pt x="10575931" y="2838651"/>
                  </a:lnTo>
                  <a:cubicBezTo>
                    <a:pt x="10575931" y="2974991"/>
                    <a:pt x="10218668" y="3085461"/>
                    <a:pt x="9778163" y="3085461"/>
                  </a:cubicBezTo>
                  <a:lnTo>
                    <a:pt x="797768" y="3085461"/>
                  </a:lnTo>
                  <a:cubicBezTo>
                    <a:pt x="357264" y="3085554"/>
                    <a:pt x="0" y="2974991"/>
                    <a:pt x="0" y="2838651"/>
                  </a:cubicBezTo>
                  <a:close/>
                </a:path>
              </a:pathLst>
            </a:custGeom>
            <a:solidFill>
              <a:srgbClr val="7AC143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0575950" cy="3095016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Other resources</a:t>
              </a:r>
            </a:p>
            <a:p>
              <a:pPr algn="l" marL="407194" indent="-203597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Weather and calendar data</a:t>
              </a:r>
            </a:p>
            <a:p>
              <a:pPr algn="l" marL="407194" indent="-203597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Utility policy for tiers and bands</a:t>
              </a:r>
            </a:p>
            <a:p>
              <a:pPr algn="l" marL="407194" indent="-203597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Embedded, ML and web developers</a:t>
              </a:r>
            </a:p>
            <a:p>
              <a:pPr algn="l" marL="407194" indent="-203597" lvl="1">
                <a:lnSpc>
                  <a:spcPts val="2700"/>
                </a:lnSpc>
                <a:buFont typeface="Arial"/>
                <a:buChar char="•"/>
              </a:pPr>
              <a:r>
                <a:rPr lang="en-US" sz="2250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utility or campus partner for a pilot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523939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Genesis Ideathon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INITIAL DIRECTION &amp; EXPECTED OUTCOME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255264" cy="1389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BUGLORDS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92024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Forecast demand, protect critical loads, share the shortage fairly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71600" y="2962725"/>
            <a:ext cx="1563624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b="true" sz="2250">
                <a:solidFill>
                  <a:srgbClr val="0945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we will do: </a:t>
            </a:r>
            <a:r>
              <a:rPr lang="en-US" sz="2250">
                <a:solidFill>
                  <a:srgbClr val="0E2A2F"/>
                </a:solidFill>
                <a:latin typeface="Open Sauce"/>
                <a:ea typeface="Open Sauce"/>
                <a:cs typeface="Open Sauce"/>
                <a:sym typeface="Open Sauce"/>
              </a:rPr>
              <a:t>forecast tier-wise demand from IoT data and allocate limited supply using minimum and maximum priority bands.</a:t>
            </a:r>
          </a:p>
          <a:p>
            <a:pPr algn="l">
              <a:lnSpc>
                <a:spcPts val="2700"/>
              </a:lnSpc>
            </a:pP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b="true" sz="2250">
                <a:solidFill>
                  <a:srgbClr val="0945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we will improve: </a:t>
            </a:r>
            <a:r>
              <a:rPr lang="en-US" sz="2250">
                <a:solidFill>
                  <a:srgbClr val="0E2A2F"/>
                </a:solidFill>
                <a:latin typeface="Open Sauce"/>
                <a:ea typeface="Open Sauce"/>
                <a:cs typeface="Open Sauce"/>
                <a:sym typeface="Open Sauce"/>
              </a:rPr>
              <a:t>replace blanket load shedding with predictive, fair, explainable allocation, with anomaly detection and advance alerts.</a:t>
            </a:r>
          </a:p>
          <a:p>
            <a:pPr algn="l">
              <a:lnSpc>
                <a:spcPts val="2700"/>
              </a:lnSpc>
            </a:pPr>
          </a:p>
          <a:p>
            <a:pPr algn="l" marL="407194" indent="-203597" lvl="1">
              <a:lnSpc>
                <a:spcPts val="2700"/>
              </a:lnSpc>
              <a:buFont typeface="Arial"/>
              <a:buChar char="•"/>
            </a:pPr>
            <a:r>
              <a:rPr lang="en-US" b="true" sz="2250">
                <a:solidFill>
                  <a:srgbClr val="0945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Success looks like: </a:t>
            </a:r>
            <a:r>
              <a:rPr lang="en-US" sz="2250">
                <a:solidFill>
                  <a:srgbClr val="0E2A2F"/>
                </a:solidFill>
                <a:latin typeface="Open Sauce"/>
                <a:ea typeface="Open Sauce"/>
                <a:cs typeface="Open Sauce"/>
                <a:sym typeface="Open Sauce"/>
              </a:rPr>
              <a:t>Tier 1 always gets at least 90% of its demand, cuts are rotated fairly, and operators see why each decision was made.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914400" cy="79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8</a:t>
              </a:r>
            </a:p>
          </p:txBody>
        </p:sp>
      </p:grpSp>
      <p:graphicFrame>
        <p:nvGraphicFramePr>
          <p:cNvPr name="Table 42" id="42"/>
          <p:cNvGraphicFramePr>
            <a:graphicFrameLocks noGrp="true"/>
          </p:cNvGraphicFramePr>
          <p:nvPr/>
        </p:nvGraphicFramePr>
        <p:xfrm>
          <a:off x="1303020" y="5925000"/>
          <a:ext cx="16002000" cy="3390900"/>
        </p:xfrm>
        <a:graphic>
          <a:graphicData uri="http://schemas.openxmlformats.org/drawingml/2006/table">
            <a:tbl>
              <a:tblPr/>
              <a:tblGrid>
                <a:gridCol w="4919890"/>
                <a:gridCol w="2844644"/>
                <a:gridCol w="2251716"/>
                <a:gridCol w="2696412"/>
                <a:gridCol w="3289339"/>
              </a:tblGrid>
              <a:tr h="6781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Tier (example at 6 PM)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Forecast demand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Band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Allocated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% of demand met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</a:tr>
              <a:tr h="6781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Tier 1: critical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1000 kW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90-100%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1000 kW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100%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Tier 2 commercial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500 kW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40-90%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300 kW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60%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Tier 3: Domestic 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500 kW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40-60%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200 kW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40%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Total (supply 1500 kW)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2000 kW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E2A2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1500 kW</a:t>
                      </a: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37160" marR="137160" marT="137160" marB="13716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DAHXhT5lMBs</dc:identifier>
  <dcterms:modified xsi:type="dcterms:W3CDTF">2011-08-01T06:04:30Z</dcterms:modified>
  <cp:revision>1</cp:revision>
  <dc:title>Genesis_Ideathon_Priority_Aware_Electricity_Allocation.pptx</dc:title>
</cp:coreProperties>
</file>